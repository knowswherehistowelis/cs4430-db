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3"/>
  </p:notesMasterIdLst>
  <p:sldIdLst>
    <p:sldId id="256" r:id="rId2"/>
    <p:sldId id="314" r:id="rId3"/>
    <p:sldId id="315" r:id="rId4"/>
    <p:sldId id="316" r:id="rId5"/>
    <p:sldId id="317" r:id="rId6"/>
    <p:sldId id="313" r:id="rId7"/>
    <p:sldId id="296" r:id="rId8"/>
    <p:sldId id="297" r:id="rId9"/>
    <p:sldId id="298" r:id="rId10"/>
    <p:sldId id="299" r:id="rId11"/>
    <p:sldId id="275" r:id="rId12"/>
    <p:sldId id="276" r:id="rId13"/>
    <p:sldId id="277" r:id="rId14"/>
    <p:sldId id="278" r:id="rId15"/>
    <p:sldId id="279" r:id="rId16"/>
    <p:sldId id="280" r:id="rId17"/>
    <p:sldId id="283" r:id="rId18"/>
    <p:sldId id="281" r:id="rId19"/>
    <p:sldId id="282" r:id="rId20"/>
    <p:sldId id="284" r:id="rId21"/>
    <p:sldId id="285" r:id="rId22"/>
    <p:sldId id="286" r:id="rId23"/>
    <p:sldId id="300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8" r:id="rId45"/>
    <p:sldId id="321" r:id="rId46"/>
    <p:sldId id="322" r:id="rId47"/>
    <p:sldId id="326" r:id="rId48"/>
    <p:sldId id="323" r:id="rId49"/>
    <p:sldId id="324" r:id="rId50"/>
    <p:sldId id="327" r:id="rId51"/>
    <p:sldId id="325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CC00CC"/>
    <a:srgbClr val="FF0066"/>
    <a:srgbClr val="99CCFF"/>
    <a:srgbClr val="33CC33"/>
    <a:srgbClr val="3366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787"/>
    <p:restoredTop sz="94542" autoAdjust="0"/>
  </p:normalViewPr>
  <p:slideViewPr>
    <p:cSldViewPr>
      <p:cViewPr varScale="1">
        <p:scale>
          <a:sx n="77" d="100"/>
          <a:sy n="77" d="100"/>
        </p:scale>
        <p:origin x="756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06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 Yang" userId="5fcfa66a-b123-4e60-b9d7-28bc6acf7e0b" providerId="ADAL" clId="{3FBE2288-10C4-4CC8-BF99-818C27EFCD78}"/>
    <pc:docChg chg="undo redo custSel addSld delSld modSld">
      <pc:chgData name="Li Yang" userId="5fcfa66a-b123-4e60-b9d7-28bc6acf7e0b" providerId="ADAL" clId="{3FBE2288-10C4-4CC8-BF99-818C27EFCD78}" dt="2017-08-14T16:50:38.956" v="117" actId="20577"/>
      <pc:docMkLst>
        <pc:docMk/>
      </pc:docMkLst>
      <pc:sldChg chg="modSp add">
        <pc:chgData name="Li Yang" userId="5fcfa66a-b123-4e60-b9d7-28bc6acf7e0b" providerId="ADAL" clId="{3FBE2288-10C4-4CC8-BF99-818C27EFCD78}" dt="2017-08-14T16:02:54.641" v="66" actId="20577"/>
        <pc:sldMkLst>
          <pc:docMk/>
          <pc:sldMk cId="2720232898" sldId="326"/>
        </pc:sldMkLst>
        <pc:spChg chg="mod">
          <ac:chgData name="Li Yang" userId="5fcfa66a-b123-4e60-b9d7-28bc6acf7e0b" providerId="ADAL" clId="{3FBE2288-10C4-4CC8-BF99-818C27EFCD78}" dt="2017-08-14T16:02:54.641" v="66" actId="20577"/>
          <ac:spMkLst>
            <pc:docMk/>
            <pc:sldMk cId="2720232898" sldId="326"/>
            <ac:spMk id="3" creationId="{4C61EFDF-D808-4EEE-A47F-929DE34426E5}"/>
          </ac:spMkLst>
        </pc:spChg>
        <pc:spChg chg="mod">
          <ac:chgData name="Li Yang" userId="5fcfa66a-b123-4e60-b9d7-28bc6acf7e0b" providerId="ADAL" clId="{3FBE2288-10C4-4CC8-BF99-818C27EFCD78}" dt="2017-08-14T15:36:15.007" v="62" actId="20577"/>
          <ac:spMkLst>
            <pc:docMk/>
            <pc:sldMk cId="2720232898" sldId="326"/>
            <ac:spMk id="5" creationId="{AFB9E272-1466-4C37-9193-656D7131E952}"/>
          </ac:spMkLst>
        </pc:spChg>
      </pc:sldChg>
      <pc:sldChg chg="modSp add del">
        <pc:chgData name="Li Yang" userId="5fcfa66a-b123-4e60-b9d7-28bc6acf7e0b" providerId="ADAL" clId="{3FBE2288-10C4-4CC8-BF99-818C27EFCD78}" dt="2017-08-14T16:50:38.956" v="117" actId="20577"/>
        <pc:sldMkLst>
          <pc:docMk/>
          <pc:sldMk cId="3795383324" sldId="327"/>
        </pc:sldMkLst>
        <pc:spChg chg="mod">
          <ac:chgData name="Li Yang" userId="5fcfa66a-b123-4e60-b9d7-28bc6acf7e0b" providerId="ADAL" clId="{3FBE2288-10C4-4CC8-BF99-818C27EFCD78}" dt="2017-08-14T16:50:38.956" v="117" actId="20577"/>
          <ac:spMkLst>
            <pc:docMk/>
            <pc:sldMk cId="3795383324" sldId="327"/>
            <ac:spMk id="3" creationId="{4C61EFDF-D808-4EEE-A47F-929DE34426E5}"/>
          </ac:spMkLst>
        </pc:spChg>
      </pc:sldChg>
    </pc:docChg>
  </pc:docChgLst>
  <pc:docChgLst>
    <pc:chgData name="Li Yang" userId="5fcfa66a-b123-4e60-b9d7-28bc6acf7e0b" providerId="ADAL" clId="{CB103C98-3475-48C9-B9CA-ADCCEEF0D6F7}"/>
    <pc:docChg chg="modSld">
      <pc:chgData name="Li Yang" userId="5fcfa66a-b123-4e60-b9d7-28bc6acf7e0b" providerId="ADAL" clId="{CB103C98-3475-48C9-B9CA-ADCCEEF0D6F7}" dt="2017-08-09T19:55:30.689" v="5" actId="20577"/>
      <pc:docMkLst>
        <pc:docMk/>
      </pc:docMkLst>
      <pc:sldChg chg="modSp">
        <pc:chgData name="Li Yang" userId="5fcfa66a-b123-4e60-b9d7-28bc6acf7e0b" providerId="ADAL" clId="{CB103C98-3475-48C9-B9CA-ADCCEEF0D6F7}" dt="2017-08-09T19:55:09.667" v="4" actId="20577"/>
        <pc:sldMkLst>
          <pc:docMk/>
          <pc:sldMk cId="2636102617" sldId="322"/>
        </pc:sldMkLst>
        <pc:spChg chg="mod">
          <ac:chgData name="Li Yang" userId="5fcfa66a-b123-4e60-b9d7-28bc6acf7e0b" providerId="ADAL" clId="{CB103C98-3475-48C9-B9CA-ADCCEEF0D6F7}" dt="2017-08-09T19:55:09.667" v="4" actId="20577"/>
          <ac:spMkLst>
            <pc:docMk/>
            <pc:sldMk cId="2636102617" sldId="322"/>
            <ac:spMk id="5" creationId="{AFB9E272-1466-4C37-9193-656D7131E952}"/>
          </ac:spMkLst>
        </pc:spChg>
      </pc:sldChg>
      <pc:sldChg chg="modSp">
        <pc:chgData name="Li Yang" userId="5fcfa66a-b123-4e60-b9d7-28bc6acf7e0b" providerId="ADAL" clId="{CB103C98-3475-48C9-B9CA-ADCCEEF0D6F7}" dt="2017-08-09T19:55:30.689" v="5" actId="20577"/>
        <pc:sldMkLst>
          <pc:docMk/>
          <pc:sldMk cId="2335614267" sldId="323"/>
        </pc:sldMkLst>
        <pc:spChg chg="mod">
          <ac:chgData name="Li Yang" userId="5fcfa66a-b123-4e60-b9d7-28bc6acf7e0b" providerId="ADAL" clId="{CB103C98-3475-48C9-B9CA-ADCCEEF0D6F7}" dt="2017-08-09T19:55:30.689" v="5" actId="20577"/>
          <ac:spMkLst>
            <pc:docMk/>
            <pc:sldMk cId="2335614267" sldId="323"/>
            <ac:spMk id="5" creationId="{AFB9E272-1466-4C37-9193-656D7131E952}"/>
          </ac:spMkLst>
        </pc:spChg>
      </pc:sldChg>
    </pc:docChg>
  </pc:docChgLst>
  <pc:docChgLst>
    <pc:chgData name="Li Yang" userId="5fcfa66a-b123-4e60-b9d7-28bc6acf7e0b" providerId="ADAL" clId="{A28D82B2-0AD7-410F-8EF4-1D9D739C2D0F}"/>
    <pc:docChg chg="undo modSld">
      <pc:chgData name="Li Yang" userId="5fcfa66a-b123-4e60-b9d7-28bc6acf7e0b" providerId="ADAL" clId="{A28D82B2-0AD7-410F-8EF4-1D9D739C2D0F}" dt="2017-08-20T19:16:36.307" v="86" actId="20577"/>
      <pc:docMkLst>
        <pc:docMk/>
      </pc:docMkLst>
      <pc:sldChg chg="modSp">
        <pc:chgData name="Li Yang" userId="5fcfa66a-b123-4e60-b9d7-28bc6acf7e0b" providerId="ADAL" clId="{A28D82B2-0AD7-410F-8EF4-1D9D739C2D0F}" dt="2017-08-20T19:16:36.307" v="86" actId="20577"/>
        <pc:sldMkLst>
          <pc:docMk/>
          <pc:sldMk cId="561597663" sldId="318"/>
        </pc:sldMkLst>
        <pc:spChg chg="mod">
          <ac:chgData name="Li Yang" userId="5fcfa66a-b123-4e60-b9d7-28bc6acf7e0b" providerId="ADAL" clId="{A28D82B2-0AD7-410F-8EF4-1D9D739C2D0F}" dt="2017-08-20T19:16:36.307" v="86" actId="20577"/>
          <ac:spMkLst>
            <pc:docMk/>
            <pc:sldMk cId="561597663" sldId="318"/>
            <ac:spMk id="2" creationId="{A50543D6-8C17-4439-A266-66FEF60007CE}"/>
          </ac:spMkLst>
        </pc:spChg>
        <pc:spChg chg="mod">
          <ac:chgData name="Li Yang" userId="5fcfa66a-b123-4e60-b9d7-28bc6acf7e0b" providerId="ADAL" clId="{A28D82B2-0AD7-410F-8EF4-1D9D739C2D0F}" dt="2017-08-20T19:15:56.162" v="75" actId="20577"/>
          <ac:spMkLst>
            <pc:docMk/>
            <pc:sldMk cId="561597663" sldId="318"/>
            <ac:spMk id="3" creationId="{F4B958F9-6746-4784-A25E-170B0D65CC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35310A80-D928-4454-B00F-76C35A71E8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600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10A80-D928-4454-B00F-76C35A71E8A4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12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10A80-D928-4454-B00F-76C35A71E8A4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89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1FECA-46CF-4067-868F-1A152A02F8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/>
            </a:lvl1pPr>
            <a:lvl2pPr marL="742950" indent="-28575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938F7-CAC6-46F7-88B7-AF238FCE5C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4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80D63B-F568-4D24-AE5D-F3012AED2B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EAC9E-39A0-4B70-945D-6B7C9F5363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24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EF05C2-0FC6-44EF-A754-440D5A63B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8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CA5D9-6E2B-4FB2-A69C-DD76F0072C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7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5F0D3-D6D2-4085-9CCE-64DE0F253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0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C63EB0-D6EA-47CE-9E88-2584B6C552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7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22134-F78D-42C9-803D-7D62267B1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9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DCD9F-7083-4D2F-97F5-9545FCB43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69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2D5F3F-3C15-4203-BEB8-32B662EA31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3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A11121AD-29A0-41F7-9B5D-3B368D9A4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asysoft.com/developer/languages/c/odbc_tutorial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ev.mysql.com/downloads/connector/odbc/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6855004-D88C-4AF8-A4C0-CD58F14AA1BC}" type="slidenum">
              <a:rPr lang="en-US" sz="1400" smtClean="0">
                <a:latin typeface="Times New Roman" charset="0"/>
              </a:rPr>
              <a:pPr/>
              <a:t>1</a:t>
            </a:fld>
            <a:endParaRPr lang="en-US" sz="1400">
              <a:latin typeface="Times New Roman" charset="0"/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/>
              <a:t>Database-Connection Libraries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Call-Level Interface</a:t>
            </a:r>
          </a:p>
          <a:p>
            <a:r>
              <a:rPr lang="en-US"/>
              <a:t>Java Database Connectivity</a:t>
            </a:r>
          </a:p>
          <a:p>
            <a:r>
              <a:rPr lang="en-US"/>
              <a:t>PHP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F777CEC-F0AF-43A7-9A93-8269F9636826}" type="slidenum">
              <a:rPr lang="en-US" sz="1400" smtClean="0">
                <a:latin typeface="Times New Roman" charset="0"/>
              </a:rPr>
              <a:pPr/>
              <a:t>2</a:t>
            </a:fld>
            <a:endParaRPr lang="en-US" sz="1400">
              <a:latin typeface="Times New Roman" charset="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66FF"/>
                </a:solidFill>
              </a:rPr>
              <a:t>An Aside</a:t>
            </a:r>
            <a:r>
              <a:rPr lang="en-US"/>
              <a:t>: SQL Injection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SQL queries are often constructed by programs.</a:t>
            </a:r>
          </a:p>
          <a:p>
            <a:r>
              <a:rPr lang="en-US"/>
              <a:t>These queries may take constants from user input.</a:t>
            </a:r>
          </a:p>
          <a:p>
            <a:r>
              <a:rPr lang="en-US"/>
              <a:t>Careless code can allow rather unexpected queries to be constructed and executed.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842A43D-916C-4AF3-8B2A-5CF7997F63A4}" type="slidenum">
              <a:rPr lang="en-US" sz="1400" smtClean="0">
                <a:latin typeface="Times New Roman" charset="0"/>
              </a:rPr>
              <a:pPr/>
              <a:t>3</a:t>
            </a:fld>
            <a:endParaRPr lang="en-US" sz="1400">
              <a:latin typeface="Times New Roman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SQL Injection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r>
              <a:rPr lang="en-US"/>
              <a:t>Relation </a:t>
            </a:r>
            <a:r>
              <a:rPr lang="en-US">
                <a:solidFill>
                  <a:srgbClr val="CC6600"/>
                </a:solidFill>
              </a:rPr>
              <a:t>Accounts(name, passwd, acct)</a:t>
            </a:r>
            <a:r>
              <a:rPr lang="en-US"/>
              <a:t>.</a:t>
            </a:r>
          </a:p>
          <a:p>
            <a:r>
              <a:rPr lang="en-US">
                <a:solidFill>
                  <a:srgbClr val="33CC33"/>
                </a:solidFill>
              </a:rPr>
              <a:t>Web interface</a:t>
            </a:r>
            <a:r>
              <a:rPr lang="en-US"/>
              <a:t>: get name and password from user, store in strings </a:t>
            </a:r>
            <a:r>
              <a:rPr lang="en-US" i="1">
                <a:solidFill>
                  <a:srgbClr val="CC6600"/>
                </a:solidFill>
              </a:rPr>
              <a:t>n</a:t>
            </a:r>
            <a:r>
              <a:rPr lang="en-US"/>
              <a:t>  and </a:t>
            </a:r>
            <a:r>
              <a:rPr lang="en-US" i="1">
                <a:solidFill>
                  <a:srgbClr val="CC6600"/>
                </a:solidFill>
              </a:rPr>
              <a:t>p</a:t>
            </a:r>
            <a:r>
              <a:rPr lang="en-US"/>
              <a:t>, issue query, display account number.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SELECT acct FROM Accounts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WHERE name = :n AND passwd = :p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88B1D6D8-2E47-4B5A-88F5-46B2E933AD78}" type="slidenum">
              <a:rPr lang="en-US" sz="1400" smtClean="0">
                <a:latin typeface="Times New Roman" charset="0"/>
              </a:rPr>
              <a:pPr/>
              <a:t>4</a:t>
            </a:fld>
            <a:endParaRPr lang="en-US" sz="1400">
              <a:latin typeface="Times New Roman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n-US"/>
              <a:t>User </a:t>
            </a:r>
            <a:r>
              <a:rPr lang="en-US">
                <a:solidFill>
                  <a:srgbClr val="CC6600"/>
                </a:solidFill>
              </a:rPr>
              <a:t>(Who Is Not Bill Gates)</a:t>
            </a:r>
            <a:r>
              <a:rPr lang="en-US"/>
              <a:t> Types</a:t>
            </a:r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2590800" y="2438400"/>
            <a:ext cx="3352800" cy="609600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2590800" y="3581400"/>
            <a:ext cx="3352800" cy="609600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Text Box 5"/>
          <p:cNvSpPr txBox="1">
            <a:spLocks noChangeArrowheads="1"/>
          </p:cNvSpPr>
          <p:nvPr/>
        </p:nvSpPr>
        <p:spPr bwMode="auto">
          <a:xfrm>
            <a:off x="1127125" y="2446338"/>
            <a:ext cx="13684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/>
              <a:t>Name:</a:t>
            </a:r>
          </a:p>
        </p:txBody>
      </p:sp>
      <p:sp>
        <p:nvSpPr>
          <p:cNvPr id="5127" name="Text Box 6"/>
          <p:cNvSpPr txBox="1">
            <a:spLocks noChangeArrowheads="1"/>
          </p:cNvSpPr>
          <p:nvPr/>
        </p:nvSpPr>
        <p:spPr bwMode="auto">
          <a:xfrm>
            <a:off x="457200" y="3581400"/>
            <a:ext cx="20208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/>
              <a:t>Password:</a:t>
            </a: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914400" y="4953000"/>
            <a:ext cx="6278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/>
              <a:t>Your account number is 1234-567</a:t>
            </a: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2819400" y="2435225"/>
            <a:ext cx="2384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>
                <a:latin typeface="Courier New" pitchFamily="49" charset="0"/>
              </a:rPr>
              <a:t>gates’ --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2743200" y="3581400"/>
            <a:ext cx="2914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>
                <a:latin typeface="Courier New" pitchFamily="49" charset="0"/>
              </a:rPr>
              <a:t>who cares?</a:t>
            </a:r>
          </a:p>
        </p:txBody>
      </p:sp>
      <p:grpSp>
        <p:nvGrpSpPr>
          <p:cNvPr id="70670" name="Group 14"/>
          <p:cNvGrpSpPr>
            <a:grpSpLocks/>
          </p:cNvGrpSpPr>
          <p:nvPr/>
        </p:nvGrpSpPr>
        <p:grpSpPr bwMode="auto">
          <a:xfrm>
            <a:off x="4572000" y="1862138"/>
            <a:ext cx="3135313" cy="1033462"/>
            <a:chOff x="2880" y="1173"/>
            <a:chExt cx="1975" cy="651"/>
          </a:xfrm>
        </p:grpSpPr>
        <p:sp>
          <p:nvSpPr>
            <p:cNvPr id="5132" name="Rectangle 11"/>
            <p:cNvSpPr>
              <a:spLocks noChangeArrowheads="1"/>
            </p:cNvSpPr>
            <p:nvPr/>
          </p:nvSpPr>
          <p:spPr bwMode="auto">
            <a:xfrm>
              <a:off x="2880" y="1584"/>
              <a:ext cx="384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3" name="Text Box 12"/>
            <p:cNvSpPr txBox="1">
              <a:spLocks noChangeArrowheads="1"/>
            </p:cNvSpPr>
            <p:nvPr/>
          </p:nvSpPr>
          <p:spPr bwMode="auto">
            <a:xfrm>
              <a:off x="3926" y="1173"/>
              <a:ext cx="92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Comment</a:t>
              </a:r>
            </a:p>
            <a:p>
              <a:r>
                <a:rPr lang="en-US"/>
                <a:t>in Oracle</a:t>
              </a:r>
            </a:p>
          </p:txBody>
        </p:sp>
        <p:sp>
          <p:nvSpPr>
            <p:cNvPr id="5134" name="Line 13"/>
            <p:cNvSpPr>
              <a:spLocks noChangeShapeType="1"/>
            </p:cNvSpPr>
            <p:nvPr/>
          </p:nvSpPr>
          <p:spPr bwMode="auto">
            <a:xfrm flipH="1">
              <a:off x="3264" y="1440"/>
              <a:ext cx="62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3FF6155-72FB-4495-8256-8BF2F62FDEFC}" type="slidenum">
              <a:rPr lang="en-US" sz="1400" smtClean="0">
                <a:latin typeface="Times New Roman" charset="0"/>
              </a:rPr>
              <a:pPr/>
              <a:t>5</a:t>
            </a:fld>
            <a:endParaRPr lang="en-US" sz="1400">
              <a:latin typeface="Times New Roman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Query Executed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SELECT acct FROM Accounts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WHERE name = ’</a:t>
            </a:r>
            <a:r>
              <a:rPr lang="en-US">
                <a:solidFill>
                  <a:srgbClr val="FF0066"/>
                </a:solidFill>
                <a:latin typeface="Courier New" pitchFamily="49" charset="0"/>
              </a:rPr>
              <a:t>gates’  --</a:t>
            </a:r>
            <a:r>
              <a:rPr lang="en-US">
                <a:latin typeface="Courier New" pitchFamily="49" charset="0"/>
              </a:rPr>
              <a:t>’ AND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passwd = ’</a:t>
            </a:r>
            <a:r>
              <a:rPr lang="en-US">
                <a:solidFill>
                  <a:srgbClr val="FF0066"/>
                </a:solidFill>
                <a:latin typeface="Courier New" pitchFamily="49" charset="0"/>
              </a:rPr>
              <a:t>who cares?</a:t>
            </a:r>
            <a:r>
              <a:rPr lang="en-US">
                <a:latin typeface="Courier New" pitchFamily="49" charset="0"/>
              </a:rPr>
              <a:t>’</a:t>
            </a:r>
          </a:p>
        </p:txBody>
      </p:sp>
      <p:grpSp>
        <p:nvGrpSpPr>
          <p:cNvPr id="71684" name="Group 4"/>
          <p:cNvGrpSpPr>
            <a:grpSpLocks/>
          </p:cNvGrpSpPr>
          <p:nvPr/>
        </p:nvGrpSpPr>
        <p:grpSpPr bwMode="auto">
          <a:xfrm>
            <a:off x="990600" y="2590800"/>
            <a:ext cx="6934200" cy="2319338"/>
            <a:chOff x="624" y="1632"/>
            <a:chExt cx="4368" cy="1461"/>
          </a:xfrm>
        </p:grpSpPr>
        <p:sp>
          <p:nvSpPr>
            <p:cNvPr id="6150" name="Rectangle 5"/>
            <p:cNvSpPr>
              <a:spLocks noChangeArrowheads="1"/>
            </p:cNvSpPr>
            <p:nvPr/>
          </p:nvSpPr>
          <p:spPr bwMode="auto">
            <a:xfrm>
              <a:off x="4176" y="1632"/>
              <a:ext cx="816" cy="3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1" name="Rectangle 6"/>
            <p:cNvSpPr>
              <a:spLocks noChangeArrowheads="1"/>
            </p:cNvSpPr>
            <p:nvPr/>
          </p:nvSpPr>
          <p:spPr bwMode="auto">
            <a:xfrm>
              <a:off x="624" y="2016"/>
              <a:ext cx="3312" cy="3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2" name="Text Box 7"/>
            <p:cNvSpPr txBox="1">
              <a:spLocks noChangeArrowheads="1"/>
            </p:cNvSpPr>
            <p:nvPr/>
          </p:nvSpPr>
          <p:spPr bwMode="auto">
            <a:xfrm>
              <a:off x="1958" y="2805"/>
              <a:ext cx="2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All treated as a comment</a:t>
              </a:r>
            </a:p>
          </p:txBody>
        </p:sp>
        <p:sp>
          <p:nvSpPr>
            <p:cNvPr id="6153" name="Line 8"/>
            <p:cNvSpPr>
              <a:spLocks noChangeShapeType="1"/>
            </p:cNvSpPr>
            <p:nvPr/>
          </p:nvSpPr>
          <p:spPr bwMode="auto">
            <a:xfrm flipH="1" flipV="1">
              <a:off x="2592" y="2352"/>
              <a:ext cx="4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" name="Line 9"/>
            <p:cNvSpPr>
              <a:spLocks noChangeShapeType="1"/>
            </p:cNvSpPr>
            <p:nvPr/>
          </p:nvSpPr>
          <p:spPr bwMode="auto">
            <a:xfrm flipV="1">
              <a:off x="3408" y="1968"/>
              <a:ext cx="120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18D73CD5-28AA-4A3C-8D31-E3AC0C2C4BF5}" type="slidenum">
              <a:rPr lang="en-US" sz="1400" smtClean="0">
                <a:latin typeface="Times New Roman" charset="0"/>
              </a:rPr>
              <a:pPr/>
              <a:t>6</a:t>
            </a:fld>
            <a:endParaRPr lang="en-US" sz="1400">
              <a:latin typeface="Times New Roman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Host/SQL Interfaces Via Libraries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/>
              <a:t>The third approach to connecting databases to conventional languages is to use library calls.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C + CLI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Java + JDBC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PHP + PEAR/DB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38BFF4D-0C36-4E9E-B305-51D86C8C4205}" type="slidenum">
              <a:rPr lang="en-US" sz="1400" smtClean="0">
                <a:latin typeface="Times New Roman" charset="0"/>
              </a:rPr>
              <a:pPr/>
              <a:t>7</a:t>
            </a:fld>
            <a:endParaRPr lang="en-US" sz="1400">
              <a:latin typeface="Times New Roman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Three-Tier Architecture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/>
              <a:t>A common environment for using a database has three tiers of processors: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i="1">
                <a:solidFill>
                  <a:srgbClr val="FF0066"/>
                </a:solidFill>
              </a:rPr>
              <a:t>Web servers</a:t>
            </a:r>
            <a:r>
              <a:rPr lang="en-US"/>
              <a:t> --- talk to the user.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i="1">
                <a:solidFill>
                  <a:srgbClr val="FF0066"/>
                </a:solidFill>
              </a:rPr>
              <a:t>Application servers</a:t>
            </a:r>
            <a:r>
              <a:rPr lang="en-US"/>
              <a:t> --- execute the business logic.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i="1">
                <a:solidFill>
                  <a:srgbClr val="FF0066"/>
                </a:solidFill>
              </a:rPr>
              <a:t>Database servers</a:t>
            </a:r>
            <a:r>
              <a:rPr lang="en-US"/>
              <a:t> --- get what the app servers need from the database.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9AF7EBD-8F96-4D53-8ADF-D35CEE2E9669}" type="slidenum">
              <a:rPr lang="en-US" sz="1400" smtClean="0">
                <a:latin typeface="Times New Roman" charset="0"/>
              </a:rPr>
              <a:pPr/>
              <a:t>8</a:t>
            </a:fld>
            <a:endParaRPr lang="en-US" sz="1400">
              <a:latin typeface="Times New Roman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Amazon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Database holds the information about products, customers, etc.</a:t>
            </a:r>
          </a:p>
          <a:p>
            <a:r>
              <a:rPr lang="en-US"/>
              <a:t>Business logic includes things like “what do I do after someone clicks ‘checkout’?”</a:t>
            </a:r>
          </a:p>
          <a:p>
            <a:pPr lvl="1"/>
            <a:r>
              <a:rPr lang="en-US">
                <a:solidFill>
                  <a:srgbClr val="CC6600"/>
                </a:solidFill>
              </a:rPr>
              <a:t>Answer</a:t>
            </a:r>
            <a:r>
              <a:rPr lang="en-US"/>
              <a:t>: Show the “how will you pay for this?” screen.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D0C779F-A9A8-4858-A466-F6B96405CC4B}" type="slidenum">
              <a:rPr lang="en-US" sz="1400" smtClean="0">
                <a:latin typeface="Times New Roman" charset="0"/>
              </a:rPr>
              <a:pPr/>
              <a:t>9</a:t>
            </a:fld>
            <a:endParaRPr lang="en-US" sz="1400">
              <a:latin typeface="Times New Roman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n-US"/>
              <a:t>Environments, Connections, Queries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r>
              <a:rPr lang="en-US"/>
              <a:t>The database is, in many DB-access languages, an </a:t>
            </a:r>
            <a:r>
              <a:rPr lang="en-US" i="1">
                <a:solidFill>
                  <a:srgbClr val="FF0066"/>
                </a:solidFill>
              </a:rPr>
              <a:t>environment</a:t>
            </a:r>
            <a:r>
              <a:rPr lang="en-US"/>
              <a:t>.</a:t>
            </a:r>
          </a:p>
          <a:p>
            <a:r>
              <a:rPr lang="en-US"/>
              <a:t>Database servers maintain some number of </a:t>
            </a:r>
            <a:r>
              <a:rPr lang="en-US" i="1">
                <a:solidFill>
                  <a:srgbClr val="FF0066"/>
                </a:solidFill>
              </a:rPr>
              <a:t>connections</a:t>
            </a:r>
            <a:r>
              <a:rPr lang="en-US"/>
              <a:t>, so app servers can ask queries or perform modifications.</a:t>
            </a:r>
          </a:p>
          <a:p>
            <a:r>
              <a:rPr lang="en-US"/>
              <a:t>The app server issues </a:t>
            </a:r>
            <a:r>
              <a:rPr lang="en-US" i="1">
                <a:solidFill>
                  <a:srgbClr val="FF0066"/>
                </a:solidFill>
              </a:rPr>
              <a:t>statements</a:t>
            </a:r>
            <a:r>
              <a:rPr lang="en-US"/>
              <a:t> : queries and modifications, usually.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2CC99B7-B763-4DD3-B59C-098D337EBB14}" type="slidenum">
              <a:rPr lang="en-US" sz="1400" smtClean="0">
                <a:latin typeface="Times New Roman" charset="0"/>
              </a:rPr>
              <a:pPr/>
              <a:t>10</a:t>
            </a:fld>
            <a:endParaRPr lang="en-US" sz="1400">
              <a:latin typeface="Times New Roman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Diagram to Remember</a:t>
            </a:r>
          </a:p>
        </p:txBody>
      </p:sp>
      <p:sp>
        <p:nvSpPr>
          <p:cNvPr id="53251" name="Oval 3"/>
          <p:cNvSpPr>
            <a:spLocks noChangeArrowheads="1"/>
          </p:cNvSpPr>
          <p:nvPr/>
        </p:nvSpPr>
        <p:spPr bwMode="auto">
          <a:xfrm>
            <a:off x="1524000" y="1828800"/>
            <a:ext cx="5791200" cy="411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Environment</a:t>
            </a:r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  <p:grpSp>
        <p:nvGrpSpPr>
          <p:cNvPr id="53258" name="Group 10"/>
          <p:cNvGrpSpPr>
            <a:grpSpLocks/>
          </p:cNvGrpSpPr>
          <p:nvPr/>
        </p:nvGrpSpPr>
        <p:grpSpPr bwMode="auto">
          <a:xfrm>
            <a:off x="1905000" y="2590800"/>
            <a:ext cx="4648200" cy="2895600"/>
            <a:chOff x="1248" y="1584"/>
            <a:chExt cx="2928" cy="1824"/>
          </a:xfrm>
        </p:grpSpPr>
        <p:sp>
          <p:nvSpPr>
            <p:cNvPr id="11274" name="Oval 4"/>
            <p:cNvSpPr>
              <a:spLocks noChangeArrowheads="1"/>
            </p:cNvSpPr>
            <p:nvPr/>
          </p:nvSpPr>
          <p:spPr bwMode="auto">
            <a:xfrm>
              <a:off x="1872" y="1584"/>
              <a:ext cx="1824" cy="1824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Connection</a:t>
              </a:r>
            </a:p>
            <a:p>
              <a:pPr algn="ctr"/>
              <a:endParaRPr lang="en-US"/>
            </a:p>
            <a:p>
              <a:pPr algn="ctr"/>
              <a:endParaRPr lang="en-US"/>
            </a:p>
            <a:p>
              <a:pPr algn="ctr"/>
              <a:endParaRPr lang="en-US"/>
            </a:p>
            <a:p>
              <a:pPr algn="ctr"/>
              <a:endParaRPr lang="en-US"/>
            </a:p>
            <a:p>
              <a:pPr algn="ctr"/>
              <a:endParaRPr lang="en-US"/>
            </a:p>
            <a:p>
              <a:pPr algn="ctr"/>
              <a:endParaRPr lang="en-US"/>
            </a:p>
          </p:txBody>
        </p:sp>
        <p:sp>
          <p:nvSpPr>
            <p:cNvPr id="11275" name="Oval 7"/>
            <p:cNvSpPr>
              <a:spLocks noChangeArrowheads="1"/>
            </p:cNvSpPr>
            <p:nvPr/>
          </p:nvSpPr>
          <p:spPr bwMode="auto">
            <a:xfrm>
              <a:off x="1248" y="2112"/>
              <a:ext cx="432" cy="432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6" name="Oval 8"/>
            <p:cNvSpPr>
              <a:spLocks noChangeArrowheads="1"/>
            </p:cNvSpPr>
            <p:nvPr/>
          </p:nvSpPr>
          <p:spPr bwMode="auto">
            <a:xfrm>
              <a:off x="3744" y="1824"/>
              <a:ext cx="432" cy="432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7" name="Oval 9"/>
            <p:cNvSpPr>
              <a:spLocks noChangeArrowheads="1"/>
            </p:cNvSpPr>
            <p:nvPr/>
          </p:nvSpPr>
          <p:spPr bwMode="auto">
            <a:xfrm>
              <a:off x="3648" y="2880"/>
              <a:ext cx="432" cy="432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3261" name="Group 13"/>
          <p:cNvGrpSpPr>
            <a:grpSpLocks/>
          </p:cNvGrpSpPr>
          <p:nvPr/>
        </p:nvGrpSpPr>
        <p:grpSpPr bwMode="auto">
          <a:xfrm>
            <a:off x="3124200" y="3124200"/>
            <a:ext cx="2438400" cy="1676400"/>
            <a:chOff x="1968" y="1968"/>
            <a:chExt cx="1536" cy="1056"/>
          </a:xfrm>
        </p:grpSpPr>
        <p:sp>
          <p:nvSpPr>
            <p:cNvPr id="11271" name="Oval 5"/>
            <p:cNvSpPr>
              <a:spLocks noChangeArrowheads="1"/>
            </p:cNvSpPr>
            <p:nvPr/>
          </p:nvSpPr>
          <p:spPr bwMode="auto">
            <a:xfrm>
              <a:off x="2304" y="1968"/>
              <a:ext cx="960" cy="720"/>
            </a:xfrm>
            <a:prstGeom prst="ellipse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Statement</a:t>
              </a:r>
            </a:p>
          </p:txBody>
        </p:sp>
        <p:sp>
          <p:nvSpPr>
            <p:cNvPr id="11272" name="Oval 11"/>
            <p:cNvSpPr>
              <a:spLocks noChangeArrowheads="1"/>
            </p:cNvSpPr>
            <p:nvPr/>
          </p:nvSpPr>
          <p:spPr bwMode="auto">
            <a:xfrm>
              <a:off x="1968" y="2496"/>
              <a:ext cx="432" cy="384"/>
            </a:xfrm>
            <a:prstGeom prst="ellipse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3" name="Oval 12"/>
            <p:cNvSpPr>
              <a:spLocks noChangeArrowheads="1"/>
            </p:cNvSpPr>
            <p:nvPr/>
          </p:nvSpPr>
          <p:spPr bwMode="auto">
            <a:xfrm>
              <a:off x="3072" y="2640"/>
              <a:ext cx="432" cy="384"/>
            </a:xfrm>
            <a:prstGeom prst="ellipse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5DBF5C1-8A9A-47F9-A7A8-F75BA9706244}" type="slidenum">
              <a:rPr lang="en-US" sz="1400" smtClean="0">
                <a:latin typeface="Times New Roman" charset="0"/>
              </a:rPr>
              <a:pPr/>
              <a:t>11</a:t>
            </a:fld>
            <a:endParaRPr lang="en-US" sz="1400">
              <a:latin typeface="Times New Roman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SQL/CLI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Instead of using a preprocessor (as in embedded SQL), we can use a library of functions.</a:t>
            </a:r>
          </a:p>
          <a:p>
            <a:pPr lvl="1"/>
            <a:r>
              <a:rPr lang="en-US"/>
              <a:t>The library for C is called SQL/CLI = “</a:t>
            </a:r>
            <a:r>
              <a:rPr lang="en-US" i="1">
                <a:solidFill>
                  <a:srgbClr val="FF0066"/>
                </a:solidFill>
              </a:rPr>
              <a:t>Call-Level Interface</a:t>
            </a:r>
            <a:r>
              <a:rPr lang="en-US"/>
              <a:t>.”</a:t>
            </a:r>
          </a:p>
          <a:p>
            <a:pPr lvl="1"/>
            <a:r>
              <a:rPr lang="en-US"/>
              <a:t>Embedded SQL’s preprocessor will translate the EXEC SQL … statements into CLI or similar calls, anyway.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86A4294-9F48-4BCD-A0D1-2503588F5660}" type="slidenum">
              <a:rPr lang="en-US" sz="1400" smtClean="0">
                <a:latin typeface="Times New Roman" charset="0"/>
              </a:rPr>
              <a:pPr/>
              <a:t>12</a:t>
            </a:fld>
            <a:endParaRPr lang="en-US" sz="1400">
              <a:latin typeface="Times New Roman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Structures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4343400"/>
          </a:xfrm>
        </p:spPr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US"/>
              <a:t>C connects to the database by structs of the following types:</a:t>
            </a:r>
          </a:p>
          <a:p>
            <a:pPr marL="990600" lvl="1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i="1">
                <a:solidFill>
                  <a:srgbClr val="33CC33"/>
                </a:solidFill>
              </a:rPr>
              <a:t>Environments</a:t>
            </a:r>
            <a:r>
              <a:rPr lang="en-US">
                <a:solidFill>
                  <a:srgbClr val="33CC33"/>
                </a:solidFill>
              </a:rPr>
              <a:t> </a:t>
            </a:r>
            <a:r>
              <a:rPr lang="en-US"/>
              <a:t>: represent the DBMS installation.</a:t>
            </a:r>
          </a:p>
          <a:p>
            <a:pPr marL="990600" lvl="1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i="1">
                <a:solidFill>
                  <a:srgbClr val="33CC33"/>
                </a:solidFill>
              </a:rPr>
              <a:t>Connections</a:t>
            </a:r>
            <a:r>
              <a:rPr lang="en-US"/>
              <a:t> : logins to the database.</a:t>
            </a:r>
          </a:p>
          <a:p>
            <a:pPr marL="990600" lvl="1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i="1">
                <a:solidFill>
                  <a:srgbClr val="33CC33"/>
                </a:solidFill>
              </a:rPr>
              <a:t>Statements</a:t>
            </a:r>
            <a:r>
              <a:rPr lang="en-US"/>
              <a:t> : SQL statements to be passed to a connection.</a:t>
            </a:r>
          </a:p>
          <a:p>
            <a:pPr marL="990600" lvl="1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i="1">
                <a:solidFill>
                  <a:srgbClr val="33CC33"/>
                </a:solidFill>
              </a:rPr>
              <a:t>Descriptions</a:t>
            </a:r>
            <a:r>
              <a:rPr lang="en-US"/>
              <a:t> : records about tuples from a query, or parameters of a statement.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CE0993D-77E7-4A8A-BF81-49B89A493CAA}" type="slidenum">
              <a:rPr lang="en-US" sz="1400" smtClean="0">
                <a:latin typeface="Times New Roman" charset="0"/>
              </a:rPr>
              <a:pPr/>
              <a:t>13</a:t>
            </a:fld>
            <a:endParaRPr lang="en-US" sz="1400">
              <a:latin typeface="Times New Roman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Handles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229600" cy="4114800"/>
          </a:xfrm>
        </p:spPr>
        <p:txBody>
          <a:bodyPr/>
          <a:lstStyle/>
          <a:p>
            <a:r>
              <a:rPr lang="en-US"/>
              <a:t>Function </a:t>
            </a:r>
            <a:r>
              <a:rPr lang="en-US">
                <a:solidFill>
                  <a:srgbClr val="CC6600"/>
                </a:solidFill>
              </a:rPr>
              <a:t>SQLAllocHandle(T,I,O)</a:t>
            </a:r>
            <a:r>
              <a:rPr lang="en-US"/>
              <a:t> is used to create these structs, which are called environment, connection, and statement </a:t>
            </a:r>
            <a:r>
              <a:rPr lang="en-US" i="1">
                <a:solidFill>
                  <a:srgbClr val="FF0066"/>
                </a:solidFill>
              </a:rPr>
              <a:t>handles</a:t>
            </a:r>
            <a:r>
              <a:rPr lang="en-US"/>
              <a:t>.</a:t>
            </a:r>
          </a:p>
          <a:p>
            <a:pPr lvl="1"/>
            <a:r>
              <a:rPr lang="en-US" i="1"/>
              <a:t>T</a:t>
            </a:r>
            <a:r>
              <a:rPr lang="en-US"/>
              <a:t> = type, e.g., SQL_HANDLE_STMT.</a:t>
            </a:r>
          </a:p>
          <a:p>
            <a:pPr lvl="1"/>
            <a:r>
              <a:rPr lang="en-US" i="1"/>
              <a:t>I</a:t>
            </a:r>
            <a:r>
              <a:rPr lang="en-US"/>
              <a:t> = input handle = struct at next higher level (statement &lt; connection &lt; environment).</a:t>
            </a:r>
          </a:p>
          <a:p>
            <a:pPr lvl="1"/>
            <a:r>
              <a:rPr lang="en-US" i="1"/>
              <a:t>O</a:t>
            </a:r>
            <a:r>
              <a:rPr lang="en-US"/>
              <a:t> = (address of) output handle.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7D2EDAD-993D-4037-8C6E-615A64D93616}" type="slidenum">
              <a:rPr lang="en-US" sz="1400" smtClean="0">
                <a:latin typeface="Times New Roman" charset="0"/>
              </a:rPr>
              <a:pPr/>
              <a:t>14</a:t>
            </a:fld>
            <a:endParaRPr lang="en-US" sz="1400">
              <a:latin typeface="Times New Roman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SQLAllocHandle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SQLAllocHandle(SQL_HANDLE_STMT,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myCon, &amp;myStat);</a:t>
            </a:r>
          </a:p>
          <a:p>
            <a:r>
              <a:rPr lang="en-US">
                <a:latin typeface="Courier New" pitchFamily="49" charset="0"/>
              </a:rPr>
              <a:t>myCon</a:t>
            </a:r>
            <a:r>
              <a:rPr lang="en-US"/>
              <a:t> is a previously created connection handle.</a:t>
            </a:r>
          </a:p>
          <a:p>
            <a:r>
              <a:rPr lang="en-US">
                <a:latin typeface="Courier New" pitchFamily="49" charset="0"/>
              </a:rPr>
              <a:t>myStat</a:t>
            </a:r>
            <a:r>
              <a:rPr lang="en-US"/>
              <a:t> is the name of the statement handle that will be created.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655138A-54F6-4688-ADFC-787BCD3A26FB}" type="slidenum">
              <a:rPr lang="en-US" sz="1400" smtClean="0">
                <a:latin typeface="Times New Roman" charset="0"/>
              </a:rPr>
              <a:pPr/>
              <a:t>15</a:t>
            </a:fld>
            <a:endParaRPr lang="en-US" sz="140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Preparing and Executing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CC6600"/>
                </a:solidFill>
              </a:rPr>
              <a:t>SQLPrepare(H, S, L)</a:t>
            </a:r>
            <a:r>
              <a:rPr lang="en-US"/>
              <a:t> causes the string </a:t>
            </a:r>
            <a:r>
              <a:rPr lang="en-US" i="1"/>
              <a:t>S</a:t>
            </a:r>
            <a:r>
              <a:rPr lang="en-US"/>
              <a:t>, of length </a:t>
            </a:r>
            <a:r>
              <a:rPr lang="en-US" i="1"/>
              <a:t>L</a:t>
            </a:r>
            <a:r>
              <a:rPr lang="en-US"/>
              <a:t>, to be interpreted as a SQL statement and optimized; the executable statement is placed in statement handle </a:t>
            </a:r>
            <a:r>
              <a:rPr lang="en-US" i="1"/>
              <a:t>H</a:t>
            </a:r>
            <a:r>
              <a:rPr lang="en-US"/>
              <a:t>.</a:t>
            </a:r>
          </a:p>
          <a:p>
            <a:r>
              <a:rPr lang="en-US">
                <a:solidFill>
                  <a:srgbClr val="CC6600"/>
                </a:solidFill>
              </a:rPr>
              <a:t>SQLExecute(H)</a:t>
            </a:r>
            <a:r>
              <a:rPr lang="en-US"/>
              <a:t> causes the SQL statement represented by statement handle </a:t>
            </a:r>
            <a:r>
              <a:rPr lang="en-US" i="1"/>
              <a:t>H</a:t>
            </a:r>
            <a:r>
              <a:rPr lang="en-US"/>
              <a:t>  to be executed.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BA0F62F-FD63-454E-B048-DFBEEB14814E}" type="slidenum">
              <a:rPr lang="en-US" sz="1400" smtClean="0">
                <a:latin typeface="Times New Roman" charset="0"/>
              </a:rPr>
              <a:pPr/>
              <a:t>16</a:t>
            </a:fld>
            <a:endParaRPr lang="en-US" sz="1400">
              <a:latin typeface="Times New Roman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Prepare and Execute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SQLPrepare(myStat, ”SELECT beer, price FROM Sells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WHERE bar = ’Joe’’s Bar’”,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SQL_NTS);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SQLExecute(myStat);</a:t>
            </a:r>
          </a:p>
        </p:txBody>
      </p:sp>
      <p:grpSp>
        <p:nvGrpSpPr>
          <p:cNvPr id="32775" name="Group 7"/>
          <p:cNvGrpSpPr>
            <a:grpSpLocks/>
          </p:cNvGrpSpPr>
          <p:nvPr/>
        </p:nvGrpSpPr>
        <p:grpSpPr bwMode="auto">
          <a:xfrm>
            <a:off x="1066800" y="3581400"/>
            <a:ext cx="6689725" cy="2613025"/>
            <a:chOff x="672" y="2016"/>
            <a:chExt cx="4214" cy="1646"/>
          </a:xfrm>
        </p:grpSpPr>
        <p:sp>
          <p:nvSpPr>
            <p:cNvPr id="17414" name="Rectangle 4"/>
            <p:cNvSpPr>
              <a:spLocks noChangeArrowheads="1"/>
            </p:cNvSpPr>
            <p:nvPr/>
          </p:nvSpPr>
          <p:spPr bwMode="auto">
            <a:xfrm>
              <a:off x="672" y="2016"/>
              <a:ext cx="1104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5" name="Text Box 5"/>
            <p:cNvSpPr txBox="1">
              <a:spLocks noChangeArrowheads="1"/>
            </p:cNvSpPr>
            <p:nvPr/>
          </p:nvSpPr>
          <p:spPr bwMode="auto">
            <a:xfrm>
              <a:off x="1718" y="3028"/>
              <a:ext cx="3168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This constant says the second argument</a:t>
              </a:r>
            </a:p>
            <a:p>
              <a:r>
                <a:rPr lang="en-US" sz="2000"/>
                <a:t>is a “null-terminated string”; i.e., figure out</a:t>
              </a:r>
            </a:p>
            <a:p>
              <a:r>
                <a:rPr lang="en-US" sz="2000"/>
                <a:t>the length by counting characters.</a:t>
              </a:r>
            </a:p>
          </p:txBody>
        </p:sp>
        <p:sp>
          <p:nvSpPr>
            <p:cNvPr id="17416" name="Line 6"/>
            <p:cNvSpPr>
              <a:spLocks noChangeShapeType="1"/>
            </p:cNvSpPr>
            <p:nvPr/>
          </p:nvSpPr>
          <p:spPr bwMode="auto">
            <a:xfrm flipH="1" flipV="1">
              <a:off x="1488" y="2352"/>
              <a:ext cx="67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8569AFD-9175-4736-9C1A-99D291B3B494}" type="slidenum">
              <a:rPr lang="en-US" sz="1400" smtClean="0">
                <a:latin typeface="Times New Roman" charset="0"/>
              </a:rPr>
              <a:pPr/>
              <a:t>17</a:t>
            </a:fld>
            <a:endParaRPr lang="en-US" sz="1400">
              <a:latin typeface="Times New Roman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 Execution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we shall execute a statement </a:t>
            </a:r>
            <a:r>
              <a:rPr lang="en-US" i="1"/>
              <a:t>S</a:t>
            </a:r>
            <a:r>
              <a:rPr lang="en-US"/>
              <a:t>  only once, we can combine PREPARE and EXECUTE with:</a:t>
            </a: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rgbClr val="CC6600"/>
                </a:solidFill>
              </a:rPr>
              <a:t>SQLExecuteDirect(H,S,L)</a:t>
            </a:r>
            <a:r>
              <a:rPr lang="en-US"/>
              <a:t>;</a:t>
            </a:r>
          </a:p>
          <a:p>
            <a:pPr lvl="1"/>
            <a:r>
              <a:rPr lang="en-US"/>
              <a:t>As before, </a:t>
            </a:r>
            <a:r>
              <a:rPr lang="en-US" i="1"/>
              <a:t>H</a:t>
            </a:r>
            <a:r>
              <a:rPr lang="en-US"/>
              <a:t>  is a statement handle and </a:t>
            </a:r>
            <a:r>
              <a:rPr lang="en-US" i="1"/>
              <a:t>L</a:t>
            </a:r>
            <a:r>
              <a:rPr lang="en-US"/>
              <a:t>  is the length of string </a:t>
            </a:r>
            <a:r>
              <a:rPr lang="en-US" i="1"/>
              <a:t>S</a:t>
            </a:r>
            <a:r>
              <a:rPr lang="en-US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F9D0258-848E-43C7-A885-BEB868FA1DF8}" type="slidenum">
              <a:rPr lang="en-US" sz="1400" smtClean="0">
                <a:latin typeface="Times New Roman" charset="0"/>
              </a:rPr>
              <a:pPr/>
              <a:t>18</a:t>
            </a:fld>
            <a:endParaRPr lang="en-US" sz="1400">
              <a:latin typeface="Times New Roman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Fetching Tuples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01000" cy="4114800"/>
          </a:xfrm>
        </p:spPr>
        <p:txBody>
          <a:bodyPr/>
          <a:lstStyle/>
          <a:p>
            <a:r>
              <a:rPr lang="en-US"/>
              <a:t>When the SQL statement executed is a query, we need to fetch the tuples of the result.</a:t>
            </a:r>
          </a:p>
          <a:p>
            <a:pPr lvl="1"/>
            <a:r>
              <a:rPr lang="en-US"/>
              <a:t>A cursor is implied by the fact we executed a query; the cursor need not be declared.</a:t>
            </a:r>
          </a:p>
          <a:p>
            <a:r>
              <a:rPr lang="en-US">
                <a:solidFill>
                  <a:srgbClr val="CC6600"/>
                </a:solidFill>
              </a:rPr>
              <a:t>SQLFetch(H)</a:t>
            </a:r>
            <a:r>
              <a:rPr lang="en-US"/>
              <a:t> gets the next tuple from the result of the statement with handle </a:t>
            </a:r>
            <a:r>
              <a:rPr lang="en-US" i="1"/>
              <a:t>H</a:t>
            </a:r>
            <a:r>
              <a:rPr lang="en-US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1E1DB701-AFE6-4155-9A0F-9255D13A0649}" type="slidenum">
              <a:rPr lang="en-US" sz="1400" smtClean="0">
                <a:latin typeface="Times New Roman" charset="0"/>
              </a:rPr>
              <a:pPr/>
              <a:t>19</a:t>
            </a:fld>
            <a:endParaRPr lang="en-US" sz="1400">
              <a:latin typeface="Times New Roman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Query Results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pPr marL="609600" indent="-609600"/>
            <a:r>
              <a:rPr lang="en-US"/>
              <a:t>When we fetch a tuple, we need to put the components somewhere.</a:t>
            </a:r>
          </a:p>
          <a:p>
            <a:pPr marL="609600" indent="-609600"/>
            <a:r>
              <a:rPr lang="en-US"/>
              <a:t>Each component is bound to a variable by the function </a:t>
            </a:r>
            <a:r>
              <a:rPr lang="en-US">
                <a:solidFill>
                  <a:srgbClr val="CC6600"/>
                </a:solidFill>
              </a:rPr>
              <a:t>SQLBindCol</a:t>
            </a:r>
            <a:r>
              <a:rPr lang="en-US"/>
              <a:t>.</a:t>
            </a:r>
          </a:p>
          <a:p>
            <a:pPr marL="990600" lvl="1" indent="-533400"/>
            <a:r>
              <a:rPr lang="en-US"/>
              <a:t>This function has 6 arguments, of which we shall show only 1, 2, and 4:</a:t>
            </a:r>
          </a:p>
          <a:p>
            <a:pPr marL="1371600" lvl="2" indent="-457200">
              <a:buFontTx/>
              <a:buNone/>
            </a:pPr>
            <a:r>
              <a:rPr lang="en-US"/>
              <a:t>1 = handle of the query statement.</a:t>
            </a:r>
          </a:p>
          <a:p>
            <a:pPr marL="1371600" lvl="2" indent="-457200">
              <a:buFontTx/>
              <a:buNone/>
            </a:pPr>
            <a:r>
              <a:rPr lang="en-US"/>
              <a:t>2 = column number.</a:t>
            </a:r>
          </a:p>
          <a:p>
            <a:pPr marL="1371600" lvl="2" indent="-457200">
              <a:buFontTx/>
              <a:buNone/>
            </a:pPr>
            <a:r>
              <a:rPr lang="en-US"/>
              <a:t>4 = address of the variable.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C03C118-2C5E-4A39-945A-4A236112FCDB}" type="slidenum">
              <a:rPr lang="en-US" sz="1400" smtClean="0">
                <a:latin typeface="Times New Roman" charset="0"/>
              </a:rPr>
              <a:pPr/>
              <a:t>20</a:t>
            </a:fld>
            <a:endParaRPr lang="en-US" sz="1400">
              <a:latin typeface="Times New Roman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Binding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724400"/>
          </a:xfrm>
        </p:spPr>
        <p:txBody>
          <a:bodyPr/>
          <a:lstStyle/>
          <a:p>
            <a:r>
              <a:rPr lang="en-US"/>
              <a:t>Suppose we have just done </a:t>
            </a:r>
            <a:r>
              <a:rPr lang="en-US">
                <a:solidFill>
                  <a:srgbClr val="CC6600"/>
                </a:solidFill>
              </a:rPr>
              <a:t>SQLExecute(myStat)</a:t>
            </a:r>
            <a:r>
              <a:rPr lang="en-US"/>
              <a:t>, where myStat is the handle for query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SELECT beer, price FROM Sells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WHERE bar = ’Joe’’s Bar’</a:t>
            </a:r>
          </a:p>
          <a:p>
            <a:r>
              <a:rPr lang="en-US"/>
              <a:t>Bind the result to theBeer and thePrice: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SQLBindCol(myStat, 1, , &amp;theBeer, , );</a:t>
            </a:r>
          </a:p>
          <a:p>
            <a:pPr>
              <a:buFont typeface="Monotype Sorts" pitchFamily="2" charset="2"/>
              <a:buNone/>
            </a:pPr>
            <a:r>
              <a:rPr lang="en-US"/>
              <a:t>SQLBindCol(myStat, 2, , &amp;thePrice, , 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DCCB889D-79E3-409E-884B-779512127C03}" type="slidenum">
              <a:rPr lang="en-US" sz="1400" smtClean="0">
                <a:latin typeface="Times New Roman" charset="0"/>
              </a:rPr>
              <a:pPr/>
              <a:t>21</a:t>
            </a:fld>
            <a:endParaRPr lang="en-US" sz="1400">
              <a:latin typeface="Times New Roman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Fetching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458200" cy="4114800"/>
          </a:xfrm>
        </p:spPr>
        <p:txBody>
          <a:bodyPr/>
          <a:lstStyle/>
          <a:p>
            <a:r>
              <a:rPr lang="en-US"/>
              <a:t>Now, we can fetch all the tuples of the answer by: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while ( SQLFetch(myStat) != SQL_NO_DATA)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{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/* do something with theBeer and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    thePrice */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}</a:t>
            </a:r>
          </a:p>
        </p:txBody>
      </p:sp>
      <p:grpSp>
        <p:nvGrpSpPr>
          <p:cNvPr id="37895" name="Group 7"/>
          <p:cNvGrpSpPr>
            <a:grpSpLocks/>
          </p:cNvGrpSpPr>
          <p:nvPr/>
        </p:nvGrpSpPr>
        <p:grpSpPr bwMode="auto">
          <a:xfrm>
            <a:off x="5089525" y="3124200"/>
            <a:ext cx="3673475" cy="3146425"/>
            <a:chOff x="3206" y="1968"/>
            <a:chExt cx="2314" cy="1982"/>
          </a:xfrm>
        </p:grpSpPr>
        <p:sp>
          <p:nvSpPr>
            <p:cNvPr id="22534" name="Rectangle 4"/>
            <p:cNvSpPr>
              <a:spLocks noChangeArrowheads="1"/>
            </p:cNvSpPr>
            <p:nvPr/>
          </p:nvSpPr>
          <p:spPr bwMode="auto">
            <a:xfrm>
              <a:off x="3744" y="1968"/>
              <a:ext cx="1776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5" name="Text Box 5"/>
            <p:cNvSpPr txBox="1">
              <a:spLocks noChangeArrowheads="1"/>
            </p:cNvSpPr>
            <p:nvPr/>
          </p:nvSpPr>
          <p:spPr bwMode="auto">
            <a:xfrm>
              <a:off x="3206" y="3316"/>
              <a:ext cx="2171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CLI macro representing</a:t>
              </a:r>
            </a:p>
            <a:p>
              <a:r>
                <a:rPr lang="en-US" sz="2000"/>
                <a:t>SQLSTATE = 02000 = “failed</a:t>
              </a:r>
            </a:p>
            <a:p>
              <a:r>
                <a:rPr lang="en-US" sz="2000"/>
                <a:t>to find a tuple.”</a:t>
              </a:r>
            </a:p>
          </p:txBody>
        </p:sp>
        <p:sp>
          <p:nvSpPr>
            <p:cNvPr id="22536" name="Line 6"/>
            <p:cNvSpPr>
              <a:spLocks noChangeShapeType="1"/>
            </p:cNvSpPr>
            <p:nvPr/>
          </p:nvSpPr>
          <p:spPr bwMode="auto">
            <a:xfrm flipV="1">
              <a:off x="4272" y="2304"/>
              <a:ext cx="28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6CB34F6-C028-43BD-AFAC-438A1121D980}" type="slidenum">
              <a:rPr lang="en-US" sz="1400" smtClean="0">
                <a:latin typeface="Times New Roman" charset="0"/>
              </a:rPr>
              <a:pPr/>
              <a:t>22</a:t>
            </a:fld>
            <a:endParaRPr lang="en-US" sz="1400">
              <a:latin typeface="Times New Roman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JDBC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>
                <a:solidFill>
                  <a:srgbClr val="FF0066"/>
                </a:solidFill>
              </a:rPr>
              <a:t>Java Database Connectivity</a:t>
            </a:r>
            <a:r>
              <a:rPr lang="en-US"/>
              <a:t> (JDBC) is a library similar to SQL/CLI, but with Java as the host language.</a:t>
            </a:r>
          </a:p>
          <a:p>
            <a:r>
              <a:rPr lang="en-US"/>
              <a:t>Like CLI, but with a few differences for us to cover.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1CB7ABF-B082-4FC2-BCA5-4EF929DAAA69}" type="slidenum">
              <a:rPr lang="en-US" sz="1400" smtClean="0">
                <a:latin typeface="Times New Roman" charset="0"/>
              </a:rPr>
              <a:pPr/>
              <a:t>23</a:t>
            </a:fld>
            <a:endParaRPr lang="en-US" sz="1400">
              <a:latin typeface="Times New Roman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Making a Connection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382000" cy="4114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endParaRPr lang="en-US" sz="2800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sz="2800">
                <a:latin typeface="Courier New" pitchFamily="49" charset="0"/>
              </a:rPr>
              <a:t>import java.sql.*;</a:t>
            </a:r>
          </a:p>
          <a:p>
            <a:pPr>
              <a:buFont typeface="Monotype Sorts" pitchFamily="2" charset="2"/>
              <a:buNone/>
            </a:pPr>
            <a:r>
              <a:rPr lang="en-US" sz="2800">
                <a:latin typeface="Courier New" pitchFamily="49" charset="0"/>
              </a:rPr>
              <a:t>Class.forName(com.mysql.jdbc.Driver);</a:t>
            </a:r>
          </a:p>
          <a:p>
            <a:pPr>
              <a:buFont typeface="Monotype Sorts" pitchFamily="2" charset="2"/>
              <a:buNone/>
            </a:pPr>
            <a:r>
              <a:rPr lang="en-US" sz="2800">
                <a:latin typeface="Courier New" pitchFamily="49" charset="0"/>
              </a:rPr>
              <a:t>Connection myCon =</a:t>
            </a:r>
          </a:p>
          <a:p>
            <a:pPr>
              <a:buFont typeface="Monotype Sorts" pitchFamily="2" charset="2"/>
              <a:buNone/>
            </a:pPr>
            <a:r>
              <a:rPr lang="en-US" sz="2800">
                <a:latin typeface="Courier New" pitchFamily="49" charset="0"/>
              </a:rPr>
              <a:t>	DriverManager.getConnection(…);</a:t>
            </a:r>
          </a:p>
        </p:txBody>
      </p:sp>
      <p:grpSp>
        <p:nvGrpSpPr>
          <p:cNvPr id="54279" name="Group 7"/>
          <p:cNvGrpSpPr>
            <a:grpSpLocks/>
          </p:cNvGrpSpPr>
          <p:nvPr/>
        </p:nvGrpSpPr>
        <p:grpSpPr bwMode="auto">
          <a:xfrm>
            <a:off x="1905000" y="2057400"/>
            <a:ext cx="5856288" cy="881063"/>
            <a:chOff x="1200" y="1029"/>
            <a:chExt cx="3689" cy="555"/>
          </a:xfrm>
        </p:grpSpPr>
        <p:sp>
          <p:nvSpPr>
            <p:cNvPr id="24594" name="Rectangle 4"/>
            <p:cNvSpPr>
              <a:spLocks noChangeArrowheads="1"/>
            </p:cNvSpPr>
            <p:nvPr/>
          </p:nvSpPr>
          <p:spPr bwMode="auto">
            <a:xfrm>
              <a:off x="1200" y="1248"/>
              <a:ext cx="1488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5" name="Text Box 5"/>
            <p:cNvSpPr txBox="1">
              <a:spLocks noChangeArrowheads="1"/>
            </p:cNvSpPr>
            <p:nvPr/>
          </p:nvSpPr>
          <p:spPr bwMode="auto">
            <a:xfrm>
              <a:off x="3302" y="1029"/>
              <a:ext cx="15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The JDBC classes</a:t>
              </a:r>
            </a:p>
          </p:txBody>
        </p:sp>
        <p:sp>
          <p:nvSpPr>
            <p:cNvPr id="24596" name="Line 6"/>
            <p:cNvSpPr>
              <a:spLocks noChangeShapeType="1"/>
            </p:cNvSpPr>
            <p:nvPr/>
          </p:nvSpPr>
          <p:spPr bwMode="auto">
            <a:xfrm flipH="1">
              <a:off x="2688" y="1152"/>
              <a:ext cx="5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283" name="Group 11"/>
          <p:cNvGrpSpPr>
            <a:grpSpLocks/>
          </p:cNvGrpSpPr>
          <p:nvPr/>
        </p:nvGrpSpPr>
        <p:grpSpPr bwMode="auto">
          <a:xfrm>
            <a:off x="3429000" y="3048000"/>
            <a:ext cx="5611813" cy="3049588"/>
            <a:chOff x="2160" y="1920"/>
            <a:chExt cx="3535" cy="1921"/>
          </a:xfrm>
        </p:grpSpPr>
        <p:sp>
          <p:nvSpPr>
            <p:cNvPr id="24591" name="Rectangle 8"/>
            <p:cNvSpPr>
              <a:spLocks noChangeArrowheads="1"/>
            </p:cNvSpPr>
            <p:nvPr/>
          </p:nvSpPr>
          <p:spPr bwMode="auto">
            <a:xfrm>
              <a:off x="2160" y="1920"/>
              <a:ext cx="2880" cy="336"/>
            </a:xfrm>
            <a:prstGeom prst="rect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2" name="Text Box 9"/>
            <p:cNvSpPr txBox="1">
              <a:spLocks noChangeArrowheads="1"/>
            </p:cNvSpPr>
            <p:nvPr/>
          </p:nvSpPr>
          <p:spPr bwMode="auto">
            <a:xfrm>
              <a:off x="4598" y="3093"/>
              <a:ext cx="1097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The driver</a:t>
              </a:r>
            </a:p>
            <a:p>
              <a:r>
                <a:rPr lang="en-US"/>
                <a:t>for mySql;</a:t>
              </a:r>
            </a:p>
            <a:p>
              <a:r>
                <a:rPr lang="en-US"/>
                <a:t>others exist</a:t>
              </a:r>
            </a:p>
          </p:txBody>
        </p:sp>
        <p:sp>
          <p:nvSpPr>
            <p:cNvPr id="24593" name="Line 10"/>
            <p:cNvSpPr>
              <a:spLocks noChangeShapeType="1"/>
            </p:cNvSpPr>
            <p:nvPr/>
          </p:nvSpPr>
          <p:spPr bwMode="auto">
            <a:xfrm flipH="1" flipV="1">
              <a:off x="4512" y="2256"/>
              <a:ext cx="57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287" name="Group 15"/>
          <p:cNvGrpSpPr>
            <a:grpSpLocks/>
          </p:cNvGrpSpPr>
          <p:nvPr/>
        </p:nvGrpSpPr>
        <p:grpSpPr bwMode="auto">
          <a:xfrm>
            <a:off x="2422525" y="4038600"/>
            <a:ext cx="4740275" cy="2211388"/>
            <a:chOff x="1526" y="2544"/>
            <a:chExt cx="2986" cy="1393"/>
          </a:xfrm>
        </p:grpSpPr>
        <p:sp>
          <p:nvSpPr>
            <p:cNvPr id="24588" name="Text Box 12"/>
            <p:cNvSpPr txBox="1">
              <a:spLocks noChangeArrowheads="1"/>
            </p:cNvSpPr>
            <p:nvPr/>
          </p:nvSpPr>
          <p:spPr bwMode="auto">
            <a:xfrm>
              <a:off x="1526" y="3189"/>
              <a:ext cx="2315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URL of the database</a:t>
              </a:r>
            </a:p>
            <a:p>
              <a:r>
                <a:rPr lang="en-US"/>
                <a:t>your name, and password</a:t>
              </a:r>
            </a:p>
            <a:p>
              <a:r>
                <a:rPr lang="en-US"/>
                <a:t>go here.</a:t>
              </a:r>
            </a:p>
          </p:txBody>
        </p:sp>
        <p:sp>
          <p:nvSpPr>
            <p:cNvPr id="24589" name="Rectangle 13"/>
            <p:cNvSpPr>
              <a:spLocks noChangeArrowheads="1"/>
            </p:cNvSpPr>
            <p:nvPr/>
          </p:nvSpPr>
          <p:spPr bwMode="auto">
            <a:xfrm>
              <a:off x="4080" y="2544"/>
              <a:ext cx="432" cy="288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 flipV="1">
              <a:off x="3504" y="2832"/>
              <a:ext cx="57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291" name="Group 19"/>
          <p:cNvGrpSpPr>
            <a:grpSpLocks/>
          </p:cNvGrpSpPr>
          <p:nvPr/>
        </p:nvGrpSpPr>
        <p:grpSpPr bwMode="auto">
          <a:xfrm>
            <a:off x="152400" y="4038600"/>
            <a:ext cx="3429000" cy="1965325"/>
            <a:chOff x="96" y="2544"/>
            <a:chExt cx="2160" cy="1238"/>
          </a:xfrm>
        </p:grpSpPr>
        <p:sp>
          <p:nvSpPr>
            <p:cNvPr id="24585" name="Text Box 16"/>
            <p:cNvSpPr txBox="1">
              <a:spLocks noChangeArrowheads="1"/>
            </p:cNvSpPr>
            <p:nvPr/>
          </p:nvSpPr>
          <p:spPr bwMode="auto">
            <a:xfrm>
              <a:off x="96" y="3264"/>
              <a:ext cx="99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Loaded by</a:t>
              </a:r>
            </a:p>
            <a:p>
              <a:r>
                <a:rPr lang="en-US"/>
                <a:t>forName</a:t>
              </a:r>
            </a:p>
          </p:txBody>
        </p:sp>
        <p:sp>
          <p:nvSpPr>
            <p:cNvPr id="24586" name="Rectangle 17"/>
            <p:cNvSpPr>
              <a:spLocks noChangeArrowheads="1"/>
            </p:cNvSpPr>
            <p:nvPr/>
          </p:nvSpPr>
          <p:spPr bwMode="auto">
            <a:xfrm>
              <a:off x="480" y="2544"/>
              <a:ext cx="1776" cy="336"/>
            </a:xfrm>
            <a:prstGeom prst="rect">
              <a:avLst/>
            </a:prstGeom>
            <a:solidFill>
              <a:srgbClr val="99CC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7" name="Line 18"/>
            <p:cNvSpPr>
              <a:spLocks noChangeShapeType="1"/>
            </p:cNvSpPr>
            <p:nvPr/>
          </p:nvSpPr>
          <p:spPr bwMode="auto">
            <a:xfrm flipV="1">
              <a:off x="768" y="2880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C214C0D-F644-44E6-9DDF-5D5AB8A7BBFA}" type="slidenum">
              <a:rPr lang="en-US" sz="1400" smtClean="0">
                <a:latin typeface="Times New Roman" charset="0"/>
              </a:rPr>
              <a:pPr/>
              <a:t>24</a:t>
            </a:fld>
            <a:endParaRPr lang="en-US" sz="1400">
              <a:latin typeface="Times New Roman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Statements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/>
              <a:t>JDBC provides two classes: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i="1">
                <a:solidFill>
                  <a:srgbClr val="33CC33"/>
                </a:solidFill>
              </a:rPr>
              <a:t>Statement</a:t>
            </a:r>
            <a:r>
              <a:rPr lang="en-US"/>
              <a:t>  = an object that can accept a string that is a SQL statement and can execute such a string.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i="1">
                <a:solidFill>
                  <a:srgbClr val="33CC33"/>
                </a:solidFill>
              </a:rPr>
              <a:t>PreparedStatement</a:t>
            </a:r>
            <a:r>
              <a:rPr lang="en-US"/>
              <a:t>  = an object that has an associated SQL statement ready to execute.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B4D0D27-BF18-4D86-9D4E-769308A1591E}" type="slidenum">
              <a:rPr lang="en-US" sz="1400" smtClean="0">
                <a:latin typeface="Times New Roman" charset="0"/>
              </a:rPr>
              <a:pPr/>
              <a:t>25</a:t>
            </a:fld>
            <a:endParaRPr lang="en-US" sz="1400">
              <a:latin typeface="Times New Roman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Statements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077200" cy="4343400"/>
          </a:xfrm>
        </p:spPr>
        <p:txBody>
          <a:bodyPr/>
          <a:lstStyle/>
          <a:p>
            <a:r>
              <a:rPr lang="en-US" sz="2800"/>
              <a:t>The Connection class has methods to create Statements and PreparedStatements.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Statement stat1 = myCon.createStatement();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PreparedStatement stat2 =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myCon.createStatement(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	”SELECT beer, price FROM Sells ” +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	”WHERE bar = ’Joe’ ’s Bar’ ”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);</a:t>
            </a:r>
          </a:p>
        </p:txBody>
      </p:sp>
      <p:grpSp>
        <p:nvGrpSpPr>
          <p:cNvPr id="41997" name="Group 13"/>
          <p:cNvGrpSpPr>
            <a:grpSpLocks/>
          </p:cNvGrpSpPr>
          <p:nvPr/>
        </p:nvGrpSpPr>
        <p:grpSpPr bwMode="auto">
          <a:xfrm>
            <a:off x="2133600" y="3048000"/>
            <a:ext cx="6413500" cy="3527425"/>
            <a:chOff x="1440" y="1920"/>
            <a:chExt cx="4040" cy="2222"/>
          </a:xfrm>
        </p:grpSpPr>
        <p:sp>
          <p:nvSpPr>
            <p:cNvPr id="26630" name="Rectangle 8"/>
            <p:cNvSpPr>
              <a:spLocks noChangeArrowheads="1"/>
            </p:cNvSpPr>
            <p:nvPr/>
          </p:nvSpPr>
          <p:spPr bwMode="auto">
            <a:xfrm>
              <a:off x="3120" y="1920"/>
              <a:ext cx="1632" cy="24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1" name="Rectangle 9"/>
            <p:cNvSpPr>
              <a:spLocks noChangeArrowheads="1"/>
            </p:cNvSpPr>
            <p:nvPr/>
          </p:nvSpPr>
          <p:spPr bwMode="auto">
            <a:xfrm>
              <a:off x="1440" y="2544"/>
              <a:ext cx="1632" cy="24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2" name="Text Box 10"/>
            <p:cNvSpPr txBox="1">
              <a:spLocks noChangeArrowheads="1"/>
            </p:cNvSpPr>
            <p:nvPr/>
          </p:nvSpPr>
          <p:spPr bwMode="auto">
            <a:xfrm>
              <a:off x="2342" y="3508"/>
              <a:ext cx="3138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>
                  <a:solidFill>
                    <a:srgbClr val="CC6600"/>
                  </a:solidFill>
                </a:rPr>
                <a:t>createStatement</a:t>
              </a:r>
              <a:r>
                <a:rPr lang="en-US" sz="2000"/>
                <a:t> with no argument returns</a:t>
              </a:r>
            </a:p>
            <a:p>
              <a:r>
                <a:rPr lang="en-US" sz="2000"/>
                <a:t>a Statement; with one argument it returns</a:t>
              </a:r>
            </a:p>
            <a:p>
              <a:r>
                <a:rPr lang="en-US" sz="2000"/>
                <a:t>a PreparedStatement.</a:t>
              </a:r>
            </a:p>
          </p:txBody>
        </p:sp>
        <p:sp>
          <p:nvSpPr>
            <p:cNvPr id="26633" name="Line 11"/>
            <p:cNvSpPr>
              <a:spLocks noChangeShapeType="1"/>
            </p:cNvSpPr>
            <p:nvPr/>
          </p:nvSpPr>
          <p:spPr bwMode="auto">
            <a:xfrm flipH="1" flipV="1">
              <a:off x="2448" y="2784"/>
              <a:ext cx="19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Line 12"/>
            <p:cNvSpPr>
              <a:spLocks noChangeShapeType="1"/>
            </p:cNvSpPr>
            <p:nvPr/>
          </p:nvSpPr>
          <p:spPr bwMode="auto">
            <a:xfrm flipV="1">
              <a:off x="2928" y="2160"/>
              <a:ext cx="864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F021CCB-7CE7-458F-937C-8DDD6DCA0CCB}" type="slidenum">
              <a:rPr lang="en-US" sz="1400" smtClean="0">
                <a:latin typeface="Times New Roman" charset="0"/>
              </a:rPr>
              <a:pPr/>
              <a:t>26</a:t>
            </a:fld>
            <a:endParaRPr lang="en-US" sz="1400">
              <a:latin typeface="Times New Roman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SQL Statements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229600" cy="4343400"/>
          </a:xfrm>
        </p:spPr>
        <p:txBody>
          <a:bodyPr/>
          <a:lstStyle/>
          <a:p>
            <a:r>
              <a:rPr lang="en-US"/>
              <a:t>JDBC distinguishes queries from modifications, which it calls “updates.”</a:t>
            </a:r>
          </a:p>
          <a:p>
            <a:r>
              <a:rPr lang="en-US"/>
              <a:t>Statement and PreparedStatement each have methods </a:t>
            </a:r>
            <a:r>
              <a:rPr lang="en-US">
                <a:solidFill>
                  <a:srgbClr val="CC6600"/>
                </a:solidFill>
              </a:rPr>
              <a:t>executeQuery</a:t>
            </a:r>
            <a:r>
              <a:rPr lang="en-US"/>
              <a:t> and </a:t>
            </a:r>
            <a:r>
              <a:rPr lang="en-US">
                <a:solidFill>
                  <a:srgbClr val="CC6600"/>
                </a:solidFill>
              </a:rPr>
              <a:t>executeUpdate</a:t>
            </a:r>
            <a:r>
              <a:rPr lang="en-US"/>
              <a:t>.</a:t>
            </a:r>
          </a:p>
          <a:p>
            <a:pPr lvl="1"/>
            <a:r>
              <a:rPr lang="en-US"/>
              <a:t>For Statements: one argument: the query or modification to be executed.</a:t>
            </a:r>
          </a:p>
          <a:p>
            <a:pPr lvl="1"/>
            <a:r>
              <a:rPr lang="en-US"/>
              <a:t>For PreparedStatements: no argument.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DE66549-9F38-4FD5-BA8F-EAB8D4387DFA}" type="slidenum">
              <a:rPr lang="en-US" sz="1400" smtClean="0">
                <a:latin typeface="Times New Roman" charset="0"/>
              </a:rPr>
              <a:pPr/>
              <a:t>27</a:t>
            </a:fld>
            <a:endParaRPr lang="en-US" sz="1400">
              <a:latin typeface="Times New Roman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Update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763000" cy="4114800"/>
          </a:xfrm>
        </p:spPr>
        <p:txBody>
          <a:bodyPr/>
          <a:lstStyle/>
          <a:p>
            <a:r>
              <a:rPr lang="en-US"/>
              <a:t>stat1 is a Statement.</a:t>
            </a:r>
          </a:p>
          <a:p>
            <a:r>
              <a:rPr lang="en-US"/>
              <a:t>We can use it to insert a tuple as: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stat1.executeUpdate(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”INSERT INTO Sells ” +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”VALUES(’Brass Rail’,’Bud’,3.00)”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4DE65BF-7524-4039-AE93-B6B16AFCD9CF}" type="slidenum">
              <a:rPr lang="en-US" sz="1400" smtClean="0">
                <a:latin typeface="Times New Roman" charset="0"/>
              </a:rPr>
              <a:pPr/>
              <a:t>28</a:t>
            </a:fld>
            <a:endParaRPr lang="en-US" sz="1400">
              <a:latin typeface="Times New Roman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Query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stat2 is a PreparedStatement holding the query ”SELECT beer, price FROM Sells WHERE bar = ’Joe’’s Bar’ ”.</a:t>
            </a:r>
          </a:p>
          <a:p>
            <a:r>
              <a:rPr lang="en-US">
                <a:solidFill>
                  <a:srgbClr val="CC6600"/>
                </a:solidFill>
              </a:rPr>
              <a:t>executeQuery</a:t>
            </a:r>
            <a:r>
              <a:rPr lang="en-US"/>
              <a:t> returns an object of class ResultSet – we’ll examine it later.</a:t>
            </a:r>
          </a:p>
          <a:p>
            <a:r>
              <a:rPr lang="en-US"/>
              <a:t>The query: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ResultSet menu = stat2.executeQuery();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789D508-8D9E-4BD4-A9E8-651629455907}" type="slidenum">
              <a:rPr lang="en-US" sz="1400" smtClean="0">
                <a:latin typeface="Times New Roman" charset="0"/>
              </a:rPr>
              <a:pPr/>
              <a:t>29</a:t>
            </a:fld>
            <a:endParaRPr lang="en-US" sz="1400">
              <a:latin typeface="Times New Roman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the ResultSet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 object of type ResultSet is something like a cursor.</a:t>
            </a:r>
          </a:p>
          <a:p>
            <a:r>
              <a:rPr lang="en-US"/>
              <a:t>Method </a:t>
            </a:r>
            <a:r>
              <a:rPr lang="en-US">
                <a:solidFill>
                  <a:srgbClr val="CC6600"/>
                </a:solidFill>
              </a:rPr>
              <a:t>next()</a:t>
            </a:r>
            <a:r>
              <a:rPr lang="en-US"/>
              <a:t> advances the “cursor” to the next tuple.</a:t>
            </a:r>
          </a:p>
          <a:p>
            <a:pPr lvl="1"/>
            <a:r>
              <a:rPr lang="en-US"/>
              <a:t>The first time </a:t>
            </a:r>
            <a:r>
              <a:rPr lang="en-US">
                <a:solidFill>
                  <a:srgbClr val="CC6600"/>
                </a:solidFill>
              </a:rPr>
              <a:t>next()</a:t>
            </a:r>
            <a:r>
              <a:rPr lang="en-US"/>
              <a:t> is applied, it gets the first tuple.</a:t>
            </a:r>
          </a:p>
          <a:p>
            <a:pPr lvl="1"/>
            <a:r>
              <a:rPr lang="en-US"/>
              <a:t>If there are no more tuples, </a:t>
            </a:r>
            <a:r>
              <a:rPr lang="en-US">
                <a:solidFill>
                  <a:srgbClr val="CC6600"/>
                </a:solidFill>
              </a:rPr>
              <a:t>next()</a:t>
            </a:r>
            <a:r>
              <a:rPr lang="en-US"/>
              <a:t> returns the value </a:t>
            </a:r>
            <a:r>
              <a:rPr lang="en-US">
                <a:solidFill>
                  <a:srgbClr val="CC6600"/>
                </a:solidFill>
              </a:rPr>
              <a:t>false</a:t>
            </a:r>
            <a:r>
              <a:rPr lang="en-US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15F9626-17EF-466B-AA9B-6F94C0C6D056}" type="slidenum">
              <a:rPr lang="en-US" sz="1400" smtClean="0">
                <a:latin typeface="Times New Roman" charset="0"/>
              </a:rPr>
              <a:pPr/>
              <a:t>30</a:t>
            </a:fld>
            <a:endParaRPr lang="en-US" sz="1400">
              <a:latin typeface="Times New Roman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n-US"/>
              <a:t>Accessing Components of Tuples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a ResultSet is referring to a tuple, we can get the components of that tuple by applying certain methods to the ResultSet.</a:t>
            </a:r>
          </a:p>
          <a:p>
            <a:r>
              <a:rPr lang="en-US"/>
              <a:t>Method </a:t>
            </a:r>
            <a:r>
              <a:rPr lang="en-US">
                <a:solidFill>
                  <a:srgbClr val="CC6600"/>
                </a:solidFill>
              </a:rPr>
              <a:t>get</a:t>
            </a:r>
            <a:r>
              <a:rPr lang="en-US" i="1">
                <a:solidFill>
                  <a:srgbClr val="CC6600"/>
                </a:solidFill>
              </a:rPr>
              <a:t>X </a:t>
            </a:r>
            <a:r>
              <a:rPr lang="en-US">
                <a:solidFill>
                  <a:srgbClr val="CC6600"/>
                </a:solidFill>
              </a:rPr>
              <a:t>(</a:t>
            </a:r>
            <a:r>
              <a:rPr lang="en-US" i="1">
                <a:solidFill>
                  <a:srgbClr val="CC6600"/>
                </a:solidFill>
              </a:rPr>
              <a:t>i</a:t>
            </a:r>
            <a:r>
              <a:rPr lang="en-US">
                <a:solidFill>
                  <a:srgbClr val="CC6600"/>
                </a:solidFill>
              </a:rPr>
              <a:t> )</a:t>
            </a:r>
            <a:r>
              <a:rPr lang="en-US"/>
              <a:t>, where </a:t>
            </a:r>
            <a:r>
              <a:rPr lang="en-US" i="1"/>
              <a:t>X </a:t>
            </a:r>
            <a:r>
              <a:rPr lang="en-US"/>
              <a:t> is some type, and </a:t>
            </a:r>
            <a:r>
              <a:rPr lang="en-US" i="1"/>
              <a:t>i</a:t>
            </a:r>
            <a:r>
              <a:rPr lang="en-US"/>
              <a:t>  is the component number, returns the value of that component.</a:t>
            </a:r>
          </a:p>
          <a:p>
            <a:pPr lvl="1"/>
            <a:r>
              <a:rPr lang="en-US"/>
              <a:t>The value must have type </a:t>
            </a:r>
            <a:r>
              <a:rPr lang="en-US" i="1"/>
              <a:t>X</a:t>
            </a:r>
            <a:r>
              <a:rPr lang="en-US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1E9749-F6FB-44B7-A81B-7A0C894256FF}" type="slidenum">
              <a:rPr lang="en-US" sz="1400" smtClean="0">
                <a:latin typeface="Times New Roman" charset="0"/>
              </a:rPr>
              <a:pPr/>
              <a:t>31</a:t>
            </a:fld>
            <a:endParaRPr lang="en-US" sz="1400">
              <a:latin typeface="Times New Roman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Accessing Components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86800" cy="5181600"/>
          </a:xfrm>
        </p:spPr>
        <p:txBody>
          <a:bodyPr/>
          <a:lstStyle/>
          <a:p>
            <a:r>
              <a:rPr lang="en-US"/>
              <a:t>Menu = ResultSet for query “SELECT beer, price FROM Sells WHERE bar = ’Joe’ ’s Bar’ ”.</a:t>
            </a:r>
          </a:p>
          <a:p>
            <a:r>
              <a:rPr lang="en-US"/>
              <a:t>Access beer and price from each tuple by: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while ( menu.next() ) {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theBeer = Menu.getString(1);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thePrice = Menu.getFloat(2);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/*something with theBeer and 		  thePrice*/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5981086-6F87-42E7-B053-7ECA65BA42DA}" type="slidenum">
              <a:rPr lang="en-US" sz="1400" smtClean="0">
                <a:latin typeface="Times New Roman" charset="0"/>
              </a:rPr>
              <a:pPr/>
              <a:t>32</a:t>
            </a:fld>
            <a:endParaRPr lang="en-US" sz="1400">
              <a:latin typeface="Times New Roman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PHP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language to be used for actions within HTML text.</a:t>
            </a:r>
          </a:p>
          <a:p>
            <a:r>
              <a:rPr lang="en-US" dirty="0"/>
              <a:t>Indicated by &lt;? PHP code ?&gt;.</a:t>
            </a:r>
          </a:p>
          <a:p>
            <a:r>
              <a:rPr lang="en-US" dirty="0"/>
              <a:t>DB library exists within </a:t>
            </a:r>
            <a:r>
              <a:rPr lang="en-US" i="1" dirty="0">
                <a:solidFill>
                  <a:srgbClr val="FF0066"/>
                </a:solidFill>
              </a:rPr>
              <a:t>PEAR</a:t>
            </a:r>
            <a:r>
              <a:rPr lang="en-US" dirty="0"/>
              <a:t>  (PHP Extension and Application Repository).</a:t>
            </a:r>
          </a:p>
          <a:p>
            <a:pPr lvl="1"/>
            <a:r>
              <a:rPr lang="en-US" dirty="0"/>
              <a:t>Include with </a:t>
            </a:r>
            <a:r>
              <a:rPr lang="en-US" dirty="0">
                <a:latin typeface="Courier New" pitchFamily="49" charset="0"/>
              </a:rPr>
              <a:t>include(</a:t>
            </a:r>
            <a:r>
              <a:rPr lang="en-US" dirty="0" err="1">
                <a:latin typeface="Courier New" pitchFamily="49" charset="0"/>
              </a:rPr>
              <a:t>DB.php</a:t>
            </a:r>
            <a:r>
              <a:rPr lang="en-US" dirty="0">
                <a:latin typeface="Courier New" pitchFamily="49" charset="0"/>
              </a:rPr>
              <a:t>)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FF0000"/>
                </a:solidFill>
              </a:rPr>
              <a:t>A Better Choice: PDO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94C1781-1DEF-4493-BF93-9A0738B39F08}" type="slidenum">
              <a:rPr lang="en-US" sz="1400" smtClean="0">
                <a:latin typeface="Times New Roman" charset="0"/>
              </a:rPr>
              <a:pPr/>
              <a:t>33</a:t>
            </a:fld>
            <a:endParaRPr lang="en-US" sz="1400">
              <a:latin typeface="Times New Roman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 in PHP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Must begin with $.</a:t>
            </a:r>
          </a:p>
          <a:p>
            <a:r>
              <a:rPr lang="en-US"/>
              <a:t>OK not to declare a type for a variable.</a:t>
            </a:r>
          </a:p>
          <a:p>
            <a:r>
              <a:rPr lang="en-US"/>
              <a:t>But you give a variable a value that belongs to a “class,” in which case, methods of that class are available to 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74FF8C7-BDAE-4D01-A7B0-7EB9E4EAC073}" type="slidenum">
              <a:rPr lang="en-US" sz="1400" smtClean="0">
                <a:latin typeface="Times New Roman" charset="0"/>
              </a:rPr>
              <a:pPr/>
              <a:t>34</a:t>
            </a:fld>
            <a:endParaRPr lang="en-US" sz="1400">
              <a:latin typeface="Times New Roman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Values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PHP solves a very important problem for languages that commonly construct strings as values:</a:t>
            </a:r>
          </a:p>
          <a:p>
            <a:pPr lvl="1"/>
            <a:r>
              <a:rPr lang="en-US"/>
              <a:t>How do I tell whether a substring needs to be interpreted as a variable and replaced by its value?</a:t>
            </a:r>
          </a:p>
          <a:p>
            <a:r>
              <a:rPr lang="en-US"/>
              <a:t>PHP solution: Double quotes means replace; single quotes means don’t.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D85F72D-2C4A-4D23-9F64-990719DA8942}" type="slidenum">
              <a:rPr lang="en-US" sz="1400" smtClean="0">
                <a:latin typeface="Times New Roman" charset="0"/>
              </a:rPr>
              <a:pPr/>
              <a:t>35</a:t>
            </a:fld>
            <a:endParaRPr lang="en-US" sz="1400">
              <a:latin typeface="Times New Roman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Replace or Not?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$100 = ”one hundred dollars”;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$sue = ’You owe me $100.’;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$joe = ”You owe me $100.”;</a:t>
            </a:r>
          </a:p>
          <a:p>
            <a:r>
              <a:rPr lang="en-US"/>
              <a:t>Value of </a:t>
            </a:r>
            <a:r>
              <a:rPr lang="en-US">
                <a:solidFill>
                  <a:srgbClr val="CC6600"/>
                </a:solidFill>
              </a:rPr>
              <a:t>$sue</a:t>
            </a:r>
            <a:r>
              <a:rPr lang="en-US"/>
              <a:t> is ’You owe me $100’, while the value of </a:t>
            </a:r>
            <a:r>
              <a:rPr lang="en-US">
                <a:solidFill>
                  <a:srgbClr val="CC6600"/>
                </a:solidFill>
              </a:rPr>
              <a:t>$joe</a:t>
            </a:r>
            <a:r>
              <a:rPr lang="en-US"/>
              <a:t> is ’You owe me one hundred dollars’.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A8302DF-F338-4C90-B639-19ADC13E0061}" type="slidenum">
              <a:rPr lang="en-US" sz="1400" smtClean="0">
                <a:latin typeface="Times New Roman" charset="0"/>
              </a:rPr>
              <a:pPr/>
              <a:t>36</a:t>
            </a:fld>
            <a:endParaRPr lang="en-US" sz="140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PHP Arrays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kinds: </a:t>
            </a:r>
            <a:r>
              <a:rPr lang="en-US" i="1">
                <a:solidFill>
                  <a:srgbClr val="FF0066"/>
                </a:solidFill>
              </a:rPr>
              <a:t>numeric </a:t>
            </a:r>
            <a:r>
              <a:rPr lang="en-US"/>
              <a:t> and </a:t>
            </a:r>
            <a:r>
              <a:rPr lang="en-US" i="1">
                <a:solidFill>
                  <a:srgbClr val="FF0066"/>
                </a:solidFill>
              </a:rPr>
              <a:t>associative</a:t>
            </a:r>
            <a:r>
              <a:rPr lang="en-US"/>
              <a:t>.</a:t>
            </a:r>
          </a:p>
          <a:p>
            <a:r>
              <a:rPr lang="en-US"/>
              <a:t>Numeric arrays are ordinary, indexed 0,1,… </a:t>
            </a:r>
          </a:p>
          <a:p>
            <a:pPr lvl="1"/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$a = array(”Paul”, ”George”, ”John”, ”Ringo”);</a:t>
            </a:r>
          </a:p>
          <a:p>
            <a:pPr lvl="2"/>
            <a:r>
              <a:rPr lang="en-US"/>
              <a:t>Then $a[0] is ”Paul”, $a[1] is ”George”, and so 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79000E5-8624-47C5-B886-68229491AA18}" type="slidenum">
              <a:rPr lang="en-US" sz="1400" smtClean="0">
                <a:latin typeface="Times New Roman" charset="0"/>
              </a:rPr>
              <a:pPr/>
              <a:t>37</a:t>
            </a:fld>
            <a:endParaRPr lang="en-US" sz="1400">
              <a:latin typeface="Times New Roman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Associative Arrays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Elements of an associative array $a are pairs x =&gt; y, where </a:t>
            </a:r>
            <a:r>
              <a:rPr lang="en-US" i="1"/>
              <a:t>x</a:t>
            </a:r>
            <a:r>
              <a:rPr lang="en-US"/>
              <a:t>  is a key string and </a:t>
            </a:r>
            <a:r>
              <a:rPr lang="en-US" i="1"/>
              <a:t>y</a:t>
            </a:r>
            <a:r>
              <a:rPr lang="en-US"/>
              <a:t>  is any value.</a:t>
            </a:r>
          </a:p>
          <a:p>
            <a:r>
              <a:rPr lang="en-US"/>
              <a:t>If x =&gt; y is an element of $a, then $a[x] is </a:t>
            </a:r>
            <a:r>
              <a:rPr lang="en-US" i="1"/>
              <a:t>y</a:t>
            </a:r>
            <a:r>
              <a:rPr lang="en-US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8056BC5A-46FE-496C-9913-79A80A11749C}" type="slidenum">
              <a:rPr lang="en-US" sz="1400" smtClean="0">
                <a:latin typeface="Times New Roman" charset="0"/>
              </a:rPr>
              <a:pPr/>
              <a:t>38</a:t>
            </a:fld>
            <a:endParaRPr lang="en-US" sz="1400">
              <a:latin typeface="Times New Roman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Associative Arrays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229600" cy="4419600"/>
          </a:xfrm>
        </p:spPr>
        <p:txBody>
          <a:bodyPr/>
          <a:lstStyle/>
          <a:p>
            <a:r>
              <a:rPr lang="en-US" sz="2800"/>
              <a:t>An environment can be expressed as an associative array, e.g.:</a:t>
            </a:r>
          </a:p>
          <a:p>
            <a:pPr>
              <a:buFont typeface="Monotype Sorts" pitchFamily="2" charset="2"/>
              <a:buNone/>
            </a:pPr>
            <a:r>
              <a:rPr lang="en-US" sz="2800">
                <a:latin typeface="Courier New" pitchFamily="49" charset="0"/>
              </a:rPr>
              <a:t>$myEnv = array(</a:t>
            </a:r>
          </a:p>
          <a:p>
            <a:pPr>
              <a:buFont typeface="Monotype Sorts" pitchFamily="2" charset="2"/>
              <a:buNone/>
            </a:pPr>
            <a:r>
              <a:rPr lang="en-US" sz="2800">
                <a:latin typeface="Courier New" pitchFamily="49" charset="0"/>
              </a:rPr>
              <a:t>	”phptype” =&gt; ”oracle”,</a:t>
            </a:r>
          </a:p>
          <a:p>
            <a:pPr>
              <a:buFont typeface="Monotype Sorts" pitchFamily="2" charset="2"/>
              <a:buNone/>
            </a:pPr>
            <a:r>
              <a:rPr lang="en-US" sz="2800">
                <a:latin typeface="Courier New" pitchFamily="49" charset="0"/>
              </a:rPr>
              <a:t>	”hostspec” =&gt; ”www.stanford.edu”,</a:t>
            </a:r>
          </a:p>
          <a:p>
            <a:pPr>
              <a:buFont typeface="Monotype Sorts" pitchFamily="2" charset="2"/>
              <a:buNone/>
            </a:pPr>
            <a:r>
              <a:rPr lang="en-US" sz="2800">
                <a:latin typeface="Courier New" pitchFamily="49" charset="0"/>
              </a:rPr>
              <a:t>	”database” =&gt; ”cs145db”,</a:t>
            </a:r>
          </a:p>
          <a:p>
            <a:pPr>
              <a:buFont typeface="Monotype Sorts" pitchFamily="2" charset="2"/>
              <a:buNone/>
            </a:pPr>
            <a:r>
              <a:rPr lang="en-US" sz="2800">
                <a:latin typeface="Courier New" pitchFamily="49" charset="0"/>
              </a:rPr>
              <a:t>	”username” =&gt; ”ullman”,</a:t>
            </a:r>
          </a:p>
          <a:p>
            <a:pPr>
              <a:buFont typeface="Monotype Sorts" pitchFamily="2" charset="2"/>
              <a:buNone/>
            </a:pPr>
            <a:r>
              <a:rPr lang="en-US" sz="2800">
                <a:latin typeface="Courier New" pitchFamily="49" charset="0"/>
              </a:rPr>
              <a:t>	”password” =&gt; ”notMyPW”);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4A33CFC-5F02-4B7C-BF74-3683F4129116}" type="slidenum">
              <a:rPr lang="en-US" sz="1400" smtClean="0">
                <a:latin typeface="Times New Roman" charset="0"/>
              </a:rPr>
              <a:pPr/>
              <a:t>39</a:t>
            </a:fld>
            <a:endParaRPr lang="en-US" sz="1400">
              <a:latin typeface="Times New Roman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Making a Connection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With the DB library imported and the array $myEnv available: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$myCon = DB::connect($myEnv);</a:t>
            </a:r>
          </a:p>
        </p:txBody>
      </p:sp>
      <p:grpSp>
        <p:nvGrpSpPr>
          <p:cNvPr id="62472" name="Group 8"/>
          <p:cNvGrpSpPr>
            <a:grpSpLocks/>
          </p:cNvGrpSpPr>
          <p:nvPr/>
        </p:nvGrpSpPr>
        <p:grpSpPr bwMode="auto">
          <a:xfrm>
            <a:off x="1965325" y="3124200"/>
            <a:ext cx="3749675" cy="1770063"/>
            <a:chOff x="1238" y="1968"/>
            <a:chExt cx="2362" cy="1115"/>
          </a:xfrm>
        </p:grpSpPr>
        <p:sp>
          <p:nvSpPr>
            <p:cNvPr id="40969" name="Text Box 5"/>
            <p:cNvSpPr txBox="1">
              <a:spLocks noChangeArrowheads="1"/>
            </p:cNvSpPr>
            <p:nvPr/>
          </p:nvSpPr>
          <p:spPr bwMode="auto">
            <a:xfrm>
              <a:off x="1238" y="2565"/>
              <a:ext cx="155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Function connect</a:t>
              </a:r>
            </a:p>
            <a:p>
              <a:r>
                <a:rPr lang="en-US"/>
                <a:t>in the DB library</a:t>
              </a:r>
            </a:p>
          </p:txBody>
        </p:sp>
        <p:sp>
          <p:nvSpPr>
            <p:cNvPr id="40970" name="Rectangle 6"/>
            <p:cNvSpPr>
              <a:spLocks noChangeArrowheads="1"/>
            </p:cNvSpPr>
            <p:nvPr/>
          </p:nvSpPr>
          <p:spPr bwMode="auto">
            <a:xfrm>
              <a:off x="1872" y="1968"/>
              <a:ext cx="1728" cy="288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1" name="Line 7"/>
            <p:cNvSpPr>
              <a:spLocks noChangeShapeType="1"/>
            </p:cNvSpPr>
            <p:nvPr/>
          </p:nvSpPr>
          <p:spPr bwMode="auto">
            <a:xfrm flipV="1">
              <a:off x="2304" y="2256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475" name="Group 11"/>
          <p:cNvGrpSpPr>
            <a:grpSpLocks/>
          </p:cNvGrpSpPr>
          <p:nvPr/>
        </p:nvGrpSpPr>
        <p:grpSpPr bwMode="auto">
          <a:xfrm>
            <a:off x="822325" y="3581400"/>
            <a:ext cx="3094038" cy="2897188"/>
            <a:chOff x="518" y="2256"/>
            <a:chExt cx="1949" cy="1825"/>
          </a:xfrm>
        </p:grpSpPr>
        <p:sp>
          <p:nvSpPr>
            <p:cNvPr id="40967" name="Text Box 9"/>
            <p:cNvSpPr txBox="1">
              <a:spLocks noChangeArrowheads="1"/>
            </p:cNvSpPr>
            <p:nvPr/>
          </p:nvSpPr>
          <p:spPr bwMode="auto">
            <a:xfrm>
              <a:off x="518" y="3333"/>
              <a:ext cx="1949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Class is Connection</a:t>
              </a:r>
            </a:p>
            <a:p>
              <a:r>
                <a:rPr lang="en-US"/>
                <a:t>because it is returned</a:t>
              </a:r>
            </a:p>
            <a:p>
              <a:r>
                <a:rPr lang="en-US"/>
                <a:t>by DB::connect().</a:t>
              </a:r>
            </a:p>
          </p:txBody>
        </p:sp>
        <p:sp>
          <p:nvSpPr>
            <p:cNvPr id="40968" name="Line 10"/>
            <p:cNvSpPr>
              <a:spLocks noChangeShapeType="1"/>
            </p:cNvSpPr>
            <p:nvPr/>
          </p:nvSpPr>
          <p:spPr bwMode="auto">
            <a:xfrm flipV="1">
              <a:off x="1056" y="2256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B706F16-ACF8-46EC-868C-D6EE86941616}" type="slidenum">
              <a:rPr lang="en-US" sz="1400" smtClean="0">
                <a:latin typeface="Times New Roman" charset="0"/>
              </a:rPr>
              <a:pPr/>
              <a:t>40</a:t>
            </a:fld>
            <a:endParaRPr lang="en-US" sz="140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SQL Statements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Method </a:t>
            </a:r>
            <a:r>
              <a:rPr lang="en-US">
                <a:solidFill>
                  <a:srgbClr val="CC6600"/>
                </a:solidFill>
              </a:rPr>
              <a:t>query</a:t>
            </a:r>
            <a:r>
              <a:rPr lang="en-US"/>
              <a:t> applies to a Connection object.</a:t>
            </a:r>
          </a:p>
          <a:p>
            <a:r>
              <a:rPr lang="en-US"/>
              <a:t>It takes a string argument and returns a result.</a:t>
            </a:r>
          </a:p>
          <a:p>
            <a:pPr lvl="1"/>
            <a:r>
              <a:rPr lang="en-US"/>
              <a:t>Could be an error code or the relation returned by a query.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8AD96681-DA8C-4926-826A-57692ED75894}" type="slidenum">
              <a:rPr lang="en-US" sz="1400" smtClean="0">
                <a:latin typeface="Times New Roman" charset="0"/>
              </a:rPr>
              <a:pPr/>
              <a:t>41</a:t>
            </a:fld>
            <a:endParaRPr lang="en-US" sz="1400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Executing a Query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Find all the bars that sell a beer given by the variable $beer.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$beer = ’Bud’;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$result = $myCon-&gt;query(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  ”SELECT bar FROM Sells” .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  ”WHERE beer = $beer ;”);</a:t>
            </a:r>
          </a:p>
        </p:txBody>
      </p:sp>
      <p:grpSp>
        <p:nvGrpSpPr>
          <p:cNvPr id="64519" name="Group 7"/>
          <p:cNvGrpSpPr>
            <a:grpSpLocks/>
          </p:cNvGrpSpPr>
          <p:nvPr/>
        </p:nvGrpSpPr>
        <p:grpSpPr bwMode="auto">
          <a:xfrm>
            <a:off x="6858000" y="2743200"/>
            <a:ext cx="2101850" cy="1981200"/>
            <a:chOff x="4320" y="1728"/>
            <a:chExt cx="1324" cy="1248"/>
          </a:xfrm>
        </p:grpSpPr>
        <p:sp>
          <p:nvSpPr>
            <p:cNvPr id="43022" name="Rectangle 4"/>
            <p:cNvSpPr>
              <a:spLocks noChangeArrowheads="1"/>
            </p:cNvSpPr>
            <p:nvPr/>
          </p:nvSpPr>
          <p:spPr bwMode="auto">
            <a:xfrm>
              <a:off x="4464" y="2784"/>
              <a:ext cx="192" cy="19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3" name="Text Box 5"/>
            <p:cNvSpPr txBox="1">
              <a:spLocks noChangeArrowheads="1"/>
            </p:cNvSpPr>
            <p:nvPr/>
          </p:nvSpPr>
          <p:spPr bwMode="auto">
            <a:xfrm>
              <a:off x="4320" y="1728"/>
              <a:ext cx="1324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Concatenation</a:t>
              </a:r>
            </a:p>
            <a:p>
              <a:r>
                <a:rPr lang="en-US"/>
                <a:t>in PHP</a:t>
              </a:r>
            </a:p>
          </p:txBody>
        </p:sp>
        <p:sp>
          <p:nvSpPr>
            <p:cNvPr id="43024" name="Line 6"/>
            <p:cNvSpPr>
              <a:spLocks noChangeShapeType="1"/>
            </p:cNvSpPr>
            <p:nvPr/>
          </p:nvSpPr>
          <p:spPr bwMode="auto">
            <a:xfrm flipH="1">
              <a:off x="4656" y="2256"/>
              <a:ext cx="33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523" name="Group 11"/>
          <p:cNvGrpSpPr>
            <a:grpSpLocks/>
          </p:cNvGrpSpPr>
          <p:nvPr/>
        </p:nvGrpSpPr>
        <p:grpSpPr bwMode="auto">
          <a:xfrm>
            <a:off x="2057400" y="4800600"/>
            <a:ext cx="3886200" cy="1873250"/>
            <a:chOff x="1296" y="3024"/>
            <a:chExt cx="2448" cy="1180"/>
          </a:xfrm>
        </p:grpSpPr>
        <p:sp>
          <p:nvSpPr>
            <p:cNvPr id="43019" name="Rectangle 8"/>
            <p:cNvSpPr>
              <a:spLocks noChangeArrowheads="1"/>
            </p:cNvSpPr>
            <p:nvPr/>
          </p:nvSpPr>
          <p:spPr bwMode="auto">
            <a:xfrm>
              <a:off x="2928" y="3024"/>
              <a:ext cx="816" cy="384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0" name="Text Box 9"/>
            <p:cNvSpPr txBox="1">
              <a:spLocks noChangeArrowheads="1"/>
            </p:cNvSpPr>
            <p:nvPr/>
          </p:nvSpPr>
          <p:spPr bwMode="auto">
            <a:xfrm>
              <a:off x="1296" y="3456"/>
              <a:ext cx="1745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Remember this</a:t>
              </a:r>
            </a:p>
            <a:p>
              <a:r>
                <a:rPr lang="en-US"/>
                <a:t>variable is replaced</a:t>
              </a:r>
            </a:p>
            <a:p>
              <a:r>
                <a:rPr lang="en-US"/>
                <a:t>by its value.</a:t>
              </a:r>
            </a:p>
          </p:txBody>
        </p:sp>
        <p:sp>
          <p:nvSpPr>
            <p:cNvPr id="43021" name="Line 10"/>
            <p:cNvSpPr>
              <a:spLocks noChangeShapeType="1"/>
            </p:cNvSpPr>
            <p:nvPr/>
          </p:nvSpPr>
          <p:spPr bwMode="auto">
            <a:xfrm flipV="1">
              <a:off x="2784" y="3408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527" name="Group 15"/>
          <p:cNvGrpSpPr>
            <a:grpSpLocks/>
          </p:cNvGrpSpPr>
          <p:nvPr/>
        </p:nvGrpSpPr>
        <p:grpSpPr bwMode="auto">
          <a:xfrm>
            <a:off x="4648200" y="2547938"/>
            <a:ext cx="2070100" cy="1643062"/>
            <a:chOff x="2928" y="1605"/>
            <a:chExt cx="1304" cy="1035"/>
          </a:xfrm>
        </p:grpSpPr>
        <p:sp>
          <p:nvSpPr>
            <p:cNvPr id="43016" name="Rectangle 12"/>
            <p:cNvSpPr>
              <a:spLocks noChangeArrowheads="1"/>
            </p:cNvSpPr>
            <p:nvPr/>
          </p:nvSpPr>
          <p:spPr bwMode="auto">
            <a:xfrm>
              <a:off x="2928" y="2352"/>
              <a:ext cx="336" cy="288"/>
            </a:xfrm>
            <a:prstGeom prst="rect">
              <a:avLst/>
            </a:prstGeom>
            <a:solidFill>
              <a:srgbClr val="99CC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7" name="Text Box 13"/>
            <p:cNvSpPr txBox="1">
              <a:spLocks noChangeArrowheads="1"/>
            </p:cNvSpPr>
            <p:nvPr/>
          </p:nvSpPr>
          <p:spPr bwMode="auto">
            <a:xfrm>
              <a:off x="3206" y="1605"/>
              <a:ext cx="1026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Method</a:t>
              </a:r>
            </a:p>
            <a:p>
              <a:r>
                <a:rPr lang="en-US"/>
                <a:t>application</a:t>
              </a:r>
            </a:p>
          </p:txBody>
        </p:sp>
        <p:sp>
          <p:nvSpPr>
            <p:cNvPr id="43018" name="Line 14"/>
            <p:cNvSpPr>
              <a:spLocks noChangeShapeType="1"/>
            </p:cNvSpPr>
            <p:nvPr/>
          </p:nvSpPr>
          <p:spPr bwMode="auto">
            <a:xfrm flipH="1">
              <a:off x="3120" y="2112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8A1396B6-C882-4913-B5F1-8CB251556043}" type="slidenum">
              <a:rPr lang="en-US" sz="1400" smtClean="0">
                <a:latin typeface="Times New Roman" charset="0"/>
              </a:rPr>
              <a:pPr/>
              <a:t>42</a:t>
            </a:fld>
            <a:endParaRPr lang="en-US" sz="140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Cursors in PHP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result of a query</a:t>
            </a:r>
            <a:r>
              <a:rPr lang="en-US" i="1"/>
              <a:t> is</a:t>
            </a:r>
            <a:r>
              <a:rPr lang="en-US"/>
              <a:t>  the tuples returned.</a:t>
            </a:r>
          </a:p>
          <a:p>
            <a:r>
              <a:rPr lang="en-US"/>
              <a:t>Method </a:t>
            </a:r>
            <a:r>
              <a:rPr lang="en-US">
                <a:solidFill>
                  <a:srgbClr val="CC6600"/>
                </a:solidFill>
              </a:rPr>
              <a:t>fetchRow</a:t>
            </a:r>
            <a:r>
              <a:rPr lang="en-US"/>
              <a:t> applies to the result and returns the next tuple, or FALSE if there is none.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2AE9940-977E-4AF2-9B13-F4CE403B8FFF}" type="slidenum">
              <a:rPr lang="en-US" sz="1400" smtClean="0">
                <a:latin typeface="Times New Roman" charset="0"/>
              </a:rPr>
              <a:pPr/>
              <a:t>43</a:t>
            </a:fld>
            <a:endParaRPr lang="en-US" sz="1400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Cursors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81200"/>
            <a:ext cx="7848600" cy="4114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while ($bar =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$result-&gt;fetchRow()) {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// do something with $bar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43D6-8C17-4439-A266-66FEF600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077200" cy="1143000"/>
          </a:xfrm>
        </p:spPr>
        <p:txBody>
          <a:bodyPr/>
          <a:lstStyle/>
          <a:p>
            <a:r>
              <a:rPr lang="en-US" sz="3600" dirty="0"/>
              <a:t>Database API Example Codes for</a:t>
            </a:r>
            <a:br>
              <a:rPr lang="en-US" sz="3600" dirty="0"/>
            </a:br>
            <a:r>
              <a:rPr lang="en-US" sz="3600" dirty="0"/>
              <a:t>C/C++/Java/PHP/Perl/Python: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958F9-6746-4784-A25E-170B0D65C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209800"/>
            <a:ext cx="7772400" cy="3886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My Example System:</a:t>
            </a:r>
          </a:p>
          <a:p>
            <a:pPr marL="457200" lvl="1" indent="0">
              <a:buNone/>
            </a:pPr>
            <a:r>
              <a:rPr lang="en-US" dirty="0"/>
              <a:t>Ubuntu Linux LTS 16.04 x64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MySQL 5.7.19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-server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User/password: root/root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Database: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northwind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7642D-BF29-46E8-98CF-DCDCEB93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D938F7-CAC6-46F7-88B7-AF238FCE5C15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976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41ED8-A02C-4957-BB03-F17734F6B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228600"/>
            <a:ext cx="3886200" cy="6553200"/>
          </a:xfrm>
        </p:spPr>
        <p:txBody>
          <a:bodyPr/>
          <a:lstStyle/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SQL/CLI (ODBC) Example: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good ODBC tutorial: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  <a:hlinkClick r:id="rId3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http://www.easysoft.com/developer/languages/c/odbc_tutorial.html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Currently, package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libmyodbc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cannot be properly installed on Ubuntu 16.4. Instead,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 MySQL Connect/ODBC from: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https://dev.mysql.com/downloads/connector/odbc/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 copy /lib/* to 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/local/lib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yang@ubuntu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:~/test$ more 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/odbc.ini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[ODBC Data Sources]</a:t>
            </a: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mydsn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My DSN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mydsn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DRIVER         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MySQLDriver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     = ODBC DSN test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DATABASE       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northwind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SERVER          = localhost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UID             = root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PASSWORD        = root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            = 3306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SOCKET          = 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/run/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mysqld.sock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yang@ubuntu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:~/test$ more 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/odbcinst.ini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MySQLDriver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 = ODBC for MySQL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Driver = /usr/local/lib/libmyodbc5a.so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Setup = /usr/local/lib/libmyodbc5S.so</a:t>
            </a: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FileUsage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2BD53-CEA1-467E-896D-B6F3F42FC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91000" y="381000"/>
            <a:ext cx="5029200" cy="6400800"/>
          </a:xfrm>
        </p:spPr>
        <p:txBody>
          <a:bodyPr/>
          <a:lstStyle/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sqlext.h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SQLHENV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SQLHDBC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SQLHSTMT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SQLINTEGER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SQLCHAR company[40], phone[40];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SQLAllocHandle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(SQL_HANDLE_ENV, SQL_NULL_HANDLE, &amp;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SQLSetEnvAttr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SQL_ATTR_ODBC_VERSION,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(void *) SQL_OV_ODBC3, 0);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SQLAllocHandle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(SQL_HANDLE_DBC,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SQLDriverConnect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NULL, "DSN=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mydsn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;", SQL_NTS,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NULL, 0, NULL, SQL_DRIVER_COMPLETE);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SQLAllocHandle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(SQL_HANDLE_STMT,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SQLExecDirect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"SELECT * from shippers", SQL_NTS);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SQLBindCol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(stmt,1,SQL_INTEGER,&amp;sid,sizeof(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),NULL);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SQLBindCol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(stmt,2,SQL_CHAR,&amp;company,sizeof(company),NULL);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SQLBindCol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(stmt,3,SQL_CHAR,&amp;phone,sizeof(phone),NULL);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while(SQL_SUCCEEDED(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SQLFetch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("%d, %s, %s\n",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company, phone);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SQLFreeHandle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(SQL_HANDLE_STMT,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SQLDisconnect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SQLFreeHandle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(SQL_HANDLE_DBC,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SQLFreeHandle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(SQL_HANDLE_ENV,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1A7AA-52E6-4BF3-897F-72C68C08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AEAC9E-39A0-4B70-945D-6B7C9F53634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077987-938F-42A8-B531-5885BD273CB8}"/>
              </a:ext>
            </a:extLst>
          </p:cNvPr>
          <p:cNvSpPr txBox="1"/>
          <p:nvPr/>
        </p:nvSpPr>
        <p:spPr>
          <a:xfrm>
            <a:off x="6096000" y="457200"/>
            <a:ext cx="2819400" cy="8617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 install UNIX ODBC:</a:t>
            </a:r>
          </a:p>
          <a:p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apt-get install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unixodbc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-dev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 compile: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lodbc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8313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1EFDF-D808-4EEE-A47F-929DE3442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943600"/>
          </a:xfrm>
        </p:spPr>
        <p:txBody>
          <a:bodyPr/>
          <a:lstStyle/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dberror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(MYSQL *con) {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(stderr, "%s\n",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mysql_error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(con));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mysql_close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(con); exit(1);       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char *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[]) {     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MYSQL *con;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MYSQL_RES *result;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MYSQL_ROW row;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((con=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mysql_init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(NULL)) == NULL)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dberror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(con);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mysql_real_connect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(con, "localhost", "root", "root",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northwind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0, NULL, 0) == NULL)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dberror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(con);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mysql_query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(con, "SELECT * FROM shippers"))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dberror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(con);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((result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mysql_store_result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(con)) == NULL)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dberror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(con);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num_fields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mysql_num_fields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(result);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(row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mysql_fetch_row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(result)) {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num_fields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i++)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("%s, ", row[i]);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("\n");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mysql_free_result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(result);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mysql_close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(con);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exit(0);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00B98-C24E-4A43-B26B-03ACEB9B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D938F7-CAC6-46F7-88B7-AF238FCE5C15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9E272-1466-4C37-9193-656D7131E952}"/>
              </a:ext>
            </a:extLst>
          </p:cNvPr>
          <p:cNvSpPr txBox="1"/>
          <p:nvPr/>
        </p:nvSpPr>
        <p:spPr>
          <a:xfrm>
            <a:off x="4876800" y="609600"/>
            <a:ext cx="3886200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MySQL Connector/C: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Native MySQL connector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apt-get install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libmysqlclient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-dev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mysqlc.c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`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mysql_config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cflags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--libs`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1026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1EFDF-D808-4EEE-A47F-929DE3442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943600"/>
          </a:xfrm>
        </p:spPr>
        <p:txBody>
          <a:bodyPr/>
          <a:lstStyle/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mysql_connection.h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mysql_driver.h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mysql_error.h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cppconn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statement.h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::Driver * driver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get_driver_instance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::Connection * con = driver-&gt;connect("localhost", "root", "root");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con-&gt;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setSchema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northwind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::Statement *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con-&gt;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createStatement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ResultSet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res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executeQuery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("SELECT * FROM shippers");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while (res-&gt;next())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res-&gt;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getString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 &lt;&lt; ", " &lt;&lt; res-&gt;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getString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(2) &lt;&lt; ", "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&lt;&lt; res-&gt;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getString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(3) &lt;&lt;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delete res;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delete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delete con;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SQLException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&amp;e) {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__FILE__ &lt;&lt; __FUNCTION__ &lt;&lt; __LINE__ &lt;&lt;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e.what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e.getErrorCode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e.getSQLState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00B98-C24E-4A43-B26B-03ACEB9B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D938F7-CAC6-46F7-88B7-AF238FCE5C15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9E272-1466-4C37-9193-656D7131E952}"/>
              </a:ext>
            </a:extLst>
          </p:cNvPr>
          <p:cNvSpPr txBox="1"/>
          <p:nvPr/>
        </p:nvSpPr>
        <p:spPr>
          <a:xfrm>
            <a:off x="4876800" y="609600"/>
            <a:ext cx="388620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MySQL Connector/C++: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Native MySQL connector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apt-get install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libmysqlcppconn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-dev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test.cxx -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lmysqlcppconn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2328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1EFDF-D808-4EEE-A47F-929DE3442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943600"/>
          </a:xfrm>
        </p:spPr>
        <p:txBody>
          <a:bodyPr/>
          <a:lstStyle/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java.sql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Class.forName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com.mysql.jdbc.Driver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catch 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ClassNotFoundException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e.printStackTrace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Connection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mycon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DriverManager.getConnection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jdbc:mysql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://localhost/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northwind?useSSL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=false",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"root", "root");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Statement stat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mycon.createStatement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ResultSet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stat.executeQuery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("select * from shippers");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while 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rs.next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rs.getInt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 + "," +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rs.getString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(2) + "," +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rs.getString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(3));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mycon.close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catch 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SQLException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e.printStackTrace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00B98-C24E-4A43-B26B-03ACEB9B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D938F7-CAC6-46F7-88B7-AF238FCE5C15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9E272-1466-4C37-9193-656D7131E952}"/>
              </a:ext>
            </a:extLst>
          </p:cNvPr>
          <p:cNvSpPr txBox="1"/>
          <p:nvPr/>
        </p:nvSpPr>
        <p:spPr>
          <a:xfrm>
            <a:off x="4953000" y="609600"/>
            <a:ext cx="373380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MySQL Connector/Java (JDBC):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default-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jdk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libmysql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-java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CLASSPATH=$CLASSPATH:/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/share/java/mysql.jar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export CLASSPATH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test.java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java test</a:t>
            </a:r>
          </a:p>
        </p:txBody>
      </p:sp>
    </p:spTree>
    <p:extLst>
      <p:ext uri="{BB962C8B-B14F-4D97-AF65-F5344CB8AC3E}">
        <p14:creationId xmlns:p14="http://schemas.microsoft.com/office/powerpoint/2010/main" val="23356142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41ED8-A02C-4957-BB03-F17734F6B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381000"/>
            <a:ext cx="3886200" cy="6400800"/>
          </a:xfrm>
        </p:spPr>
        <p:txBody>
          <a:bodyPr/>
          <a:lstStyle/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PHP offers three APIs to connect to MySQL:</a:t>
            </a:r>
          </a:p>
          <a:p>
            <a:pPr marL="228600" indent="-228600">
              <a:buAutoNum type="arabicPeriod"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(depreciated)</a:t>
            </a:r>
          </a:p>
          <a:p>
            <a:pPr marL="228600" indent="-228600">
              <a:buAutoNum type="arabicPeriod"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(both procedural and OO APIs)</a:t>
            </a:r>
          </a:p>
          <a:p>
            <a:pPr marL="228600" indent="-228600">
              <a:buAutoNum type="arabicPeriod"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PDO (PHP’s API, preferred)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 install on Ubuntu:</a:t>
            </a: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apt-get install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apt-get install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php-mysql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API (Procedural):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"\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nMySQLi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API (Procedural):\n";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$conn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mysqli_connect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("localhost", "root", "root", 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northwind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(!$conn)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die(“Failed: ".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mysqli_connect_error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$result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mysqli_query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($conn,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"SELECT * FROM shippers");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while($row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mysqli_fetch_assoc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($result))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echo $row["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ShipperID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"].", ".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$row["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CompanyName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"].", ".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$row["Phone"]."\n";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mysqli_close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($conn);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2BD53-CEA1-467E-896D-B6F3F42FC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91000" y="381000"/>
            <a:ext cx="5029200" cy="6400800"/>
          </a:xfrm>
        </p:spPr>
        <p:txBody>
          <a:bodyPr/>
          <a:lstStyle/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API (Object-Oriented):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"\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nMySQLi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API (Object-Oriented):\n";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$conn = new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("localhost", "root", "root", 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northwind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($conn-&gt;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connect_error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die(“Failed: " . $conn-&gt;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connect_error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$result = $conn-&gt;query("SELECT * FROM shippers");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while($row = $result-&gt;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fetch_assoc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echo $row["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ShipperID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"].", ".$row["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CompanyName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", ".$row["Phone"]."\n";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$conn-&gt;close();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PHP Data Objects (PDO) API: (preferred)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"\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nPHP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Data Objects (PDO) API:\n";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PDO('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mysql:host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localhost;dbname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northwind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’,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'root', 'root');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setAttribute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(PDO::ATTR_ERRMODE,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PDO::ERRMODE_EXCEPTION);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$result = $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-&gt;query("SELECT * FROM shippers");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($row = $result-&gt;fetch()) 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echo $row["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ShipperID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"].", ".$row["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CompanyName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", ".$row["Phone"]."\n";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catch(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PDOException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$e) {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die($e-&gt;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getMessage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1A7AA-52E6-4BF3-897F-72C68C08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AEAC9E-39A0-4B70-945D-6B7C9F53634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606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1EFDF-D808-4EEE-A47F-929DE3442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943600"/>
          </a:xfrm>
        </p:spPr>
        <p:txBody>
          <a:bodyPr/>
          <a:lstStyle/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Perl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 install DBI and MySQL Connection: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libdbi-perl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libdbd-mysql-perl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yang@ubuntu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:~/test$ more test.pl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#!/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/bin/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perl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 DBI;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$conn = DBI-&gt;connect("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DBI:mysql:northwind:localhost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"root", "root")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or die "Couldn't connect to database: " . DBI-&gt;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errstr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$conn-&gt;prepare("SELECT * FROM shippers");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-&gt;execute();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(@row = $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fetchrow_array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 $row[0] . ", " . $row[1] . ", " . $row[2] . "\n";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-&gt;finish;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$conn-&gt;disconnect;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00B98-C24E-4A43-B26B-03ACEB9B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D938F7-CAC6-46F7-88B7-AF238FCE5C15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833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1EFDF-D808-4EEE-A47F-929DE3442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943600"/>
          </a:xfrm>
        </p:spPr>
        <p:txBody>
          <a:bodyPr/>
          <a:lstStyle/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Python3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 install:</a:t>
            </a: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apt-get install python3-mysql.connector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#!/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/bin/python3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This is the only statement specific to MySQL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mysql.connector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dbconn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dbconn.connect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(host="localhost", \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user="root",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="root",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northwind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cursor =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db.cursor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("SELECT * FROM shippers")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sid,company,phone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in cursor:</a:t>
            </a:r>
          </a:p>
          <a:p>
            <a:pPr marL="0" indent="0"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",", company, ",", phone)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cursor.close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db.close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00B98-C24E-4A43-B26B-03ACEB9B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D938F7-CAC6-46F7-88B7-AF238FCE5C15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1596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3744</Words>
  <Application>Microsoft Office PowerPoint</Application>
  <PresentationFormat>On-screen Show (4:3)</PresentationFormat>
  <Paragraphs>614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Monotype Sorts</vt:lpstr>
      <vt:lpstr>Courier New</vt:lpstr>
      <vt:lpstr>Tahoma</vt:lpstr>
      <vt:lpstr>Times New Roman</vt:lpstr>
      <vt:lpstr>Wingdings</vt:lpstr>
      <vt:lpstr>Default Design</vt:lpstr>
      <vt:lpstr>Database-Connection Libraries</vt:lpstr>
      <vt:lpstr>An Aside: SQL Injection</vt:lpstr>
      <vt:lpstr>Example: SQL Injection</vt:lpstr>
      <vt:lpstr>User (Who Is Not Bill Gates) Types</vt:lpstr>
      <vt:lpstr>The Query Executed</vt:lpstr>
      <vt:lpstr>Host/SQL Interfaces Via Libraries</vt:lpstr>
      <vt:lpstr>Three-Tier Architecture</vt:lpstr>
      <vt:lpstr>Example: Amazon</vt:lpstr>
      <vt:lpstr>Environments, Connections, Queries</vt:lpstr>
      <vt:lpstr>Diagram to Remember</vt:lpstr>
      <vt:lpstr>SQL/CLI</vt:lpstr>
      <vt:lpstr>Data Structures</vt:lpstr>
      <vt:lpstr>Handles</vt:lpstr>
      <vt:lpstr>Example: SQLAllocHandle</vt:lpstr>
      <vt:lpstr>Preparing and Executing</vt:lpstr>
      <vt:lpstr>Example: Prepare and Execute</vt:lpstr>
      <vt:lpstr>Direct Execution</vt:lpstr>
      <vt:lpstr>Fetching Tuples</vt:lpstr>
      <vt:lpstr>Accessing Query Results</vt:lpstr>
      <vt:lpstr>Example: Binding</vt:lpstr>
      <vt:lpstr>Example: Fetching</vt:lpstr>
      <vt:lpstr>JDBC</vt:lpstr>
      <vt:lpstr>Making a Connection</vt:lpstr>
      <vt:lpstr>Statements</vt:lpstr>
      <vt:lpstr>Creating Statements</vt:lpstr>
      <vt:lpstr>Executing SQL Statements</vt:lpstr>
      <vt:lpstr>Example: Update</vt:lpstr>
      <vt:lpstr>Example: Query</vt:lpstr>
      <vt:lpstr>Accessing the ResultSet</vt:lpstr>
      <vt:lpstr>Accessing Components of Tuples</vt:lpstr>
      <vt:lpstr>Example: Accessing Components</vt:lpstr>
      <vt:lpstr>PHP</vt:lpstr>
      <vt:lpstr>Variables in PHP</vt:lpstr>
      <vt:lpstr>String Values</vt:lpstr>
      <vt:lpstr>Example: Replace or Not?</vt:lpstr>
      <vt:lpstr>PHP Arrays</vt:lpstr>
      <vt:lpstr>Associative Arrays</vt:lpstr>
      <vt:lpstr>Example: Associative Arrays</vt:lpstr>
      <vt:lpstr>Making a Connection</vt:lpstr>
      <vt:lpstr>Executing SQL Statements</vt:lpstr>
      <vt:lpstr>Example: Executing a Query</vt:lpstr>
      <vt:lpstr>Cursors in PHP</vt:lpstr>
      <vt:lpstr>Example: Cursors</vt:lpstr>
      <vt:lpstr>Database API Example Codes for C/C++/Java/PHP/Perl/Python: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Stanford University, CS Dept.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CS206 --- Electronic Commerce</dc:title>
  <dc:creator>Jeff Ullman</dc:creator>
  <cp:lastModifiedBy>Li Yang</cp:lastModifiedBy>
  <cp:revision>118</cp:revision>
  <dcterms:created xsi:type="dcterms:W3CDTF">2002-03-23T20:14:09Z</dcterms:created>
  <dcterms:modified xsi:type="dcterms:W3CDTF">2017-08-20T19:16:42Z</dcterms:modified>
</cp:coreProperties>
</file>